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87" r:id="rId6"/>
    <p:sldId id="260" r:id="rId7"/>
    <p:sldId id="283" r:id="rId8"/>
    <p:sldId id="288" r:id="rId9"/>
    <p:sldId id="293" r:id="rId10"/>
    <p:sldId id="284" r:id="rId11"/>
    <p:sldId id="264" r:id="rId12"/>
    <p:sldId id="266" r:id="rId13"/>
    <p:sldId id="290" r:id="rId14"/>
    <p:sldId id="291" r:id="rId15"/>
    <p:sldId id="294" r:id="rId16"/>
    <p:sldId id="289" r:id="rId17"/>
    <p:sldId id="280" r:id="rId1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74A11-D777-4A21-A270-6F8A09B2D137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DB6E01-9A66-45F7-9913-E4710846909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170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C8BE10-CF6A-433B-A665-B07A0F5F13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2B8DFD-3DE7-4FBB-9379-4CA65BD528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E9C10B6-9AD9-48F7-8A51-653EBDA6B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D95CF36-2944-4819-9146-7A1DED1EA1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5C57A1D-78F6-4A51-BE24-BBABD28DC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9269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171673-A45B-40E8-8606-A35A0D982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E615B0D-2B65-4A3B-9210-B8D32D10BC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4644779-8B0E-4870-BE22-68D8EC4E5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9BE05C-2C3A-41C6-8170-5C715265A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55380D7-1212-4185-8C9F-DA456C4DC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42648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0B186F-FA08-4D4E-967C-1F799E316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971C260-AFB2-4F3F-9F9D-D70FCC9CA8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6EF3DB-C509-46F4-A47B-CB52ED428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E7B894F-8017-40E9-BE58-EE2B32DC7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1885ACA-E8F7-448C-92B8-76FCF2F5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8643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49F36F-C100-425F-A6D4-442C831C9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1CB49F-A20E-4BC1-B7B9-AB2678E66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F6BDC06-E41E-45A8-92F3-F23B09C87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DC4B84D-F0BD-41AC-B75E-7ED71D519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7D1283D-6573-461F-BE8C-92BE392CF8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35D11FB-AD6E-4F64-BA97-F9B790FCD4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68731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E3FE31-F08D-4F78-BB13-D092EA9D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7FB431-4874-4F08-BB5A-F0A67B68B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58FB0E6-7B7E-4DA1-879B-E5DD6EACC7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C53BC42D-0B1D-40F8-957F-3259926153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668AD02-CE5C-405A-B4AB-47C8A3E9F5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ADF9323-1E59-422D-B5E1-53CEED964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CBBE23A-C69D-4BC4-A044-7DE420DFB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E9FAECF8-2DB3-483A-A51A-72E3F321C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13061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525297-E1DF-4F49-844C-B5004B497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668D61B0-571E-4634-820D-BE8C43CDC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C9AB50D-DED9-4F09-B633-0D1A479C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A73912-C4BB-4DEC-8A81-A4DC61ABE3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575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768E753-EE03-4932-B563-6CB3695FB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4E1FC9-E731-4E2E-A678-2EAC238D36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88D96B6-73F8-42DC-9693-AEA5C147F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17005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8F7A58-7B76-41EA-8ED3-277621617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DCBBDE-E02C-456B-AFF6-4B3969FB4F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713A34A-7160-46D2-B526-1ABBF48DDE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CD33588-48BF-4723-90C0-34EB6673A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4FBFF21-15CB-4547-87C3-5DF872D3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AA8FAE0-BB62-42BB-832B-D94B813F2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301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DFCD8-53BB-4463-BF82-6C7CA9DAB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D955AB4A-951B-4140-B839-C72779208F7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61F6312-54B5-4ADE-81FB-8EBE6FDA7D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4805582-3CBF-48EF-8D6B-EF8C6060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290B654-3B75-40D0-83FE-24DFB98C5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2DCD482-790B-436A-A99F-2E534C50E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10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9B58C2-21EA-44AA-B7F3-4E258A3F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BB08977-A57D-4110-80B2-538505DEF5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7FB0C64-00AF-4066-9CEE-B34830B9F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0415E4B-6CBF-47BB-BE97-CAE8A940B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A9E350-9987-4E2A-A7EC-08500BFBD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0371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59CAE9B5-8DBF-43B5-9DE5-AF658E080F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72826EE-6F4D-4E7B-93E9-708EE53AB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69952D-ECC0-4EE7-AD58-1F630F842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B9DB-94B2-4D97-AB29-D096994DA229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A583EC-4F2A-427F-8F43-695E9CE54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FB9DE81-5F8C-488E-89F3-E93A1361A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07847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163F25-8401-4050-B9C0-1864FD918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C158BF0-F39C-48A3-8E8A-C22EF5572C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115F282-4ED1-4FED-82A5-D48D197176A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8EB9DB-94B2-4D97-AB29-D096994DA229}" type="datetimeFigureOut">
              <a:rPr lang="ru-RU" smtClean="0"/>
              <a:t>21.05.2026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A805AD-E84B-485F-BE45-31A48BA732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C1D08D-9EC8-40DB-9B46-669208259D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9DB6E4-81A8-48FA-A111-413E3E85E7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5956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4B1E9-7B85-41C6-AC8B-242A6B603E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ПРОИЗВОДСТВЕННАЯ ПРАКТИКА, ПРЕДДИПЛОМНАЯ ПРАКТИКА</a:t>
            </a:r>
            <a:br>
              <a:rPr lang="ru-RU" dirty="0"/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CE82BE8-E71E-47E7-B354-024530FDD7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ru-RU" dirty="0"/>
              <a:t>Выполнил: студент группы 606-22 Демьянцев В.В.</a:t>
            </a:r>
          </a:p>
          <a:p>
            <a:pPr algn="r"/>
            <a:r>
              <a:rPr lang="ru-RU" dirty="0"/>
              <a:t>Научный руководитель: старший преподаватель </a:t>
            </a:r>
            <a:r>
              <a:rPr lang="ru-RU" dirty="0" err="1"/>
              <a:t>каф.АСОИУ</a:t>
            </a:r>
            <a:r>
              <a:rPr lang="ru-RU" dirty="0"/>
              <a:t> Горбунов Д.В.</a:t>
            </a:r>
          </a:p>
        </p:txBody>
      </p:sp>
    </p:spTree>
    <p:extLst>
      <p:ext uri="{BB962C8B-B14F-4D97-AF65-F5344CB8AC3E}">
        <p14:creationId xmlns:p14="http://schemas.microsoft.com/office/powerpoint/2010/main" val="2314773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263BA0-F9D7-4AEB-A9F7-D9E30D49B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 и задачи практики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9CC613-FDC1-4225-B204-891E0DB45E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344" y="1426464"/>
            <a:ext cx="11530584" cy="4828031"/>
          </a:xfrm>
        </p:spPr>
        <p:txBody>
          <a:bodyPr>
            <a:noAutofit/>
          </a:bodyPr>
          <a:lstStyle/>
          <a:p>
            <a:pPr indent="0" algn="just">
              <a:lnSpc>
                <a:spcPct val="150000"/>
              </a:lnSpc>
              <a:buNone/>
            </a:pP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Цель: Разработать программную часть системы распознавания эмоций человека на основе ИНС с использованием методов компьютерного зрения и глубокого обучения.</a:t>
            </a:r>
          </a:p>
          <a:p>
            <a:pPr indent="0" algn="just">
              <a:lnSpc>
                <a:spcPct val="150000"/>
              </a:lnSpc>
              <a:buNone/>
            </a:pP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Задачи практики:</a:t>
            </a:r>
          </a:p>
          <a:p>
            <a:pPr marL="514350" indent="-285750" algn="just">
              <a:lnSpc>
                <a:spcPct val="150000"/>
              </a:lnSpc>
            </a:pP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Описание средств и технологий разработки</a:t>
            </a:r>
          </a:p>
          <a:p>
            <a:pPr marL="514350" indent="-285750" algn="just">
              <a:lnSpc>
                <a:spcPct val="150000"/>
              </a:lnSpc>
            </a:pP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Проработка видов обеспечения: информационное, программное, алгоритмическое, математическое, техническое</a:t>
            </a:r>
          </a:p>
          <a:p>
            <a:pPr marL="514350" indent="-285750" algn="just">
              <a:lnSpc>
                <a:spcPct val="150000"/>
              </a:lnSpc>
            </a:pP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Реализация модуля анализа лица и эмоций</a:t>
            </a:r>
          </a:p>
          <a:p>
            <a:pPr marL="514350" indent="-285750" algn="just">
              <a:lnSpc>
                <a:spcPct val="150000"/>
              </a:lnSpc>
            </a:pP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Реализация модуля распознавания речи</a:t>
            </a:r>
          </a:p>
          <a:p>
            <a:pPr marL="514350" indent="-285750" algn="just">
              <a:lnSpc>
                <a:spcPct val="150000"/>
              </a:lnSpc>
            </a:pP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Разработка пользовательского интерфейса ПО</a:t>
            </a:r>
          </a:p>
          <a:p>
            <a:pPr marL="514350" indent="-285750" algn="just">
              <a:lnSpc>
                <a:spcPct val="150000"/>
              </a:lnSpc>
            </a:pP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Интеграция модулей ИИ в единую систему</a:t>
            </a:r>
          </a:p>
          <a:p>
            <a:pPr marL="514350" indent="-285750" algn="just">
              <a:lnSpc>
                <a:spcPct val="150000"/>
              </a:lnSpc>
            </a:pPr>
            <a:r>
              <a:rPr lang="ru-RU" sz="16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Подготовить отчёт по преддипломной практике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08D8360-FA0F-440D-8156-2BF331DE0269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  <a:r>
              <a:rPr lang="en-US" dirty="0"/>
              <a:t>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0414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dirty="0"/>
              <a:t>Актуальность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3E649-ADA8-4250-87FF-0757785B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118586"/>
            <a:ext cx="10830017" cy="5513033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Рост значимости эмоционального интеллекта в HR: современные подходы к управлению персоналом подчеркивают важность учёта эмоционального состояния для повышения производительности и снижения текучести кадров.</a:t>
            </a:r>
          </a:p>
          <a:p>
            <a:r>
              <a:rPr lang="ru-RU" dirty="0"/>
              <a:t>Ограниченность традиционных методов: субъективные оценки и анкетирование не обеспечивают высокой точности и оперативности, что затрудняет своевременное выявление профессионального выгорания.</a:t>
            </a:r>
          </a:p>
          <a:p>
            <a:r>
              <a:rPr lang="ru-RU" dirty="0"/>
              <a:t>Развитие технологий ИИ: прогресс в области компьютерного зрения и обработки аудиосигналов создаёт основу для автоматизированного анализа эмоций в режиме, близком к реальному времени.</a:t>
            </a:r>
          </a:p>
          <a:p>
            <a:r>
              <a:rPr lang="ru-RU" dirty="0"/>
              <a:t>Потребность в мультимодальном анализе: комплексный подход, объединяющий видео- и аудиоданные, позволяет учитывать взаимодополняющие признаки, повышая точность классификации.</a:t>
            </a:r>
          </a:p>
          <a:p>
            <a:r>
              <a:rPr lang="ru-RU" dirty="0"/>
              <a:t>Автоматизация снижает нагрузку на HR-специалистов, обеспечивает объективность оценки и формирует количественные метрики для принятия управленческих решений.</a:t>
            </a:r>
          </a:p>
          <a:p>
            <a:r>
              <a:rPr lang="ru-RU" dirty="0"/>
              <a:t>Актуальность обусловлена отсутствием доступных систем, адаптированных под задачи HR и соответствие требованиям ФЗ-152 о локализации и защите персональных данных сотрудников.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D1CC9F-A08B-4855-A038-008F06257CDA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630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8DEFDC-A437-4C47-B07D-6342E196D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Средства и технологии разработки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21D1AC-E48E-40DF-94EA-D6449A28C51C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4/22</a:t>
            </a:r>
            <a:endParaRPr lang="ru-RU" dirty="0"/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82F14302-1BF2-E1DF-19A8-0E74AB6A70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79663" y="2120804"/>
            <a:ext cx="3699318" cy="13814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Picture background">
            <a:extLst>
              <a:ext uri="{FF2B5EF4-FFF2-40B4-BE49-F238E27FC236}">
                <a16:creationId xmlns:a16="http://schemas.microsoft.com/office/drawing/2014/main" id="{A339DE64-170F-3267-C6E5-0C47E9D936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7176" y="1445684"/>
            <a:ext cx="1871472" cy="1871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Picture background">
            <a:extLst>
              <a:ext uri="{FF2B5EF4-FFF2-40B4-BE49-F238E27FC236}">
                <a16:creationId xmlns:a16="http://schemas.microsoft.com/office/drawing/2014/main" id="{28767BEC-E43E-ABAE-D052-1CD818E5D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13382" y="3575536"/>
            <a:ext cx="2035466" cy="210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Picture background">
            <a:extLst>
              <a:ext uri="{FF2B5EF4-FFF2-40B4-BE49-F238E27FC236}">
                <a16:creationId xmlns:a16="http://schemas.microsoft.com/office/drawing/2014/main" id="{809F2891-D9F2-175C-53BA-BE3D9B2271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6875" y="3575535"/>
            <a:ext cx="2100602" cy="210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Picture background">
            <a:extLst>
              <a:ext uri="{FF2B5EF4-FFF2-40B4-BE49-F238E27FC236}">
                <a16:creationId xmlns:a16="http://schemas.microsoft.com/office/drawing/2014/main" id="{56A00DD1-6DEC-2ED3-2ECC-A70C20090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411" y="1328398"/>
            <a:ext cx="2278570" cy="2100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89823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89600A-14F2-4F8C-96F2-69CA1CC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317" y="68231"/>
            <a:ext cx="10515600" cy="1325563"/>
          </a:xfrm>
        </p:spPr>
        <p:txBody>
          <a:bodyPr/>
          <a:lstStyle/>
          <a:p>
            <a:r>
              <a:rPr lang="ru-RU" sz="4400" dirty="0"/>
              <a:t>Средства и технологии разработки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F3E649-ADA8-4250-87FF-0757785BB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783" y="1118586"/>
            <a:ext cx="10830017" cy="5513033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Искусственный интеллект (ИИ) – раздел информатики, занимающийся созданием систем, способных выполнять задачи, требующие человеческого интеллекта: распознавание образов, понимание естественного языка и принятие решений на основе данных.</a:t>
            </a:r>
          </a:p>
          <a:p>
            <a:r>
              <a:rPr lang="ru-RU" dirty="0" err="1"/>
              <a:t>Свёрточные</a:t>
            </a:r>
            <a:r>
              <a:rPr lang="ru-RU" dirty="0"/>
              <a:t> нейронные сети (CNN) – архитектура глубокого обучения, автоматически извлекающая иерархические признаки из изображений. Идеально подходит для анализа мимики и детекции объектов в видеопотоке без ручного выделения характеристик.</a:t>
            </a:r>
          </a:p>
          <a:p>
            <a:r>
              <a:rPr lang="ru-RU" dirty="0"/>
              <a:t>Рекуррентные нейронные сети и трансформеры – модели, оптимизированные для работы с последовательностями данных. Применяются для анализа аудиопотока, распознавания речи и выявления просодических маркеров эмоционального состояния.</a:t>
            </a:r>
          </a:p>
          <a:p>
            <a:r>
              <a:rPr lang="ru-RU" dirty="0"/>
              <a:t>Мультимодальный анализ – методология совместной обработки разнородных данных (видео, аудио, текст), позволяющая компенсировать ограничения отдельных модальностей и повысить надёжность классификации в реальных условиях.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D1CC9F-A08B-4855-A038-008F06257CDA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9578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635" y="991102"/>
            <a:ext cx="12207773" cy="5866898"/>
          </a:xfrm>
        </p:spPr>
        <p:txBody>
          <a:bodyPr>
            <a:normAutofit/>
          </a:bodyPr>
          <a:lstStyle/>
          <a:p>
            <a:r>
              <a:rPr lang="ru-RU" sz="1600" dirty="0"/>
              <a:t>В HR-процессах модуль анализа лица выполняет задачу объективной фиксации эмоциональных реакций участников встреч и собеседований. Технология позволяет оценивать вовлечённость, выявлять признаки стресса и формировать доказательную базу для принятия решений.</a:t>
            </a:r>
          </a:p>
          <a:p>
            <a:r>
              <a:rPr lang="ru-RU" sz="1600" dirty="0"/>
              <a:t>Модуль работает в автоматическом режиме: захватывает кадры с веб-камеры, локализует область лица, нормализует геометрию и классифицирует текущее эмоциональное состояние на основе </a:t>
            </a:r>
            <a:r>
              <a:rPr lang="ru-RU" sz="1600" dirty="0" err="1"/>
              <a:t>предобученных</a:t>
            </a:r>
            <a:r>
              <a:rPr lang="ru-RU" sz="1600" dirty="0"/>
              <a:t> </a:t>
            </a:r>
            <a:r>
              <a:rPr lang="ru-RU" sz="1600" dirty="0" err="1"/>
              <a:t>сверточных</a:t>
            </a:r>
            <a:r>
              <a:rPr lang="ru-RU" sz="1600" dirty="0"/>
              <a:t> сетей.</a:t>
            </a:r>
          </a:p>
          <a:p>
            <a:r>
              <a:rPr lang="ru-RU" sz="1600" dirty="0"/>
              <a:t>Система способна обрабатывать несколько лиц одновременно, отслеживать динамику изменений в течение сессии и агрегировать результаты в структурированные метрики без участия оператора.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686E8C-5C6E-4C73-90BC-84349D9F5C1C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5/22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55" y="-189056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Модуль анализа лица и эмоций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64695FE-CB89-94D9-F3F6-080A3244F2D8}"/>
              </a:ext>
            </a:extLst>
          </p:cNvPr>
          <p:cNvSpPr txBox="1"/>
          <p:nvPr/>
        </p:nvSpPr>
        <p:spPr>
          <a:xfrm>
            <a:off x="2388870" y="4237566"/>
            <a:ext cx="6204204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Использование готовых нейросетевых архитектур обеспечивает высокую скорость </a:t>
            </a:r>
            <a:r>
              <a:rPr lang="ru-RU" dirty="0" err="1"/>
              <a:t>инференса</a:t>
            </a:r>
            <a:r>
              <a:rPr lang="ru-RU" dirty="0"/>
              <a:t> и точность распознавания базовых эмоций по модели П. Экмана (радость, грусть, гнев, страх, удивление, отвращение, нейтрально).</a:t>
            </a:r>
          </a:p>
          <a:p>
            <a:r>
              <a:rPr lang="ru-RU" dirty="0"/>
              <a:t>Картинки: Рисунок 11 из отчёта (6 базовых эмоций по Экману)</a:t>
            </a:r>
            <a:r>
              <a:rPr lang="en-US" dirty="0"/>
              <a:t> </a:t>
            </a:r>
            <a:r>
              <a:rPr lang="ru-RU" dirty="0"/>
              <a:t>ИЛИ НЕТ</a:t>
            </a:r>
          </a:p>
        </p:txBody>
      </p:sp>
    </p:spTree>
    <p:extLst>
      <p:ext uri="{BB962C8B-B14F-4D97-AF65-F5344CB8AC3E}">
        <p14:creationId xmlns:p14="http://schemas.microsoft.com/office/powerpoint/2010/main" val="3376878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118"/>
            <a:ext cx="10515600" cy="5839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MTCNN (Multi-</a:t>
            </a:r>
            <a:r>
              <a:rPr lang="ru-RU" sz="1800" dirty="0" err="1"/>
              <a:t>task</a:t>
            </a:r>
            <a:r>
              <a:rPr lang="ru-RU" sz="1800" dirty="0"/>
              <a:t> </a:t>
            </a:r>
            <a:r>
              <a:rPr lang="ru-RU" sz="1800" dirty="0" err="1"/>
              <a:t>Cascaded</a:t>
            </a:r>
            <a:r>
              <a:rPr lang="ru-RU" sz="1800" dirty="0"/>
              <a:t> CNN) – каскадная архитектура из трёх сетей, последовательно уточняющих положение лица и определяющих 5 ключевых точек. Обеспечивает высокую скорость детекции при сохранении точности &gt;95% даже при частичных перекрытиях.</a:t>
            </a:r>
          </a:p>
          <a:p>
            <a:pPr marL="0" indent="0">
              <a:buNone/>
            </a:pPr>
            <a:r>
              <a:rPr lang="ru-RU" sz="1800" dirty="0" err="1"/>
              <a:t>DeepFace</a:t>
            </a:r>
            <a:r>
              <a:rPr lang="ru-RU" sz="1800" dirty="0"/>
              <a:t> – мета-библиотека, предоставляющая доступ к </a:t>
            </a:r>
            <a:r>
              <a:rPr lang="ru-RU" sz="1800" dirty="0" err="1"/>
              <a:t>предобученным</a:t>
            </a:r>
            <a:r>
              <a:rPr lang="ru-RU" sz="1800" dirty="0"/>
              <a:t> моделям (VGG-Face, Facenet512, </a:t>
            </a:r>
            <a:r>
              <a:rPr lang="ru-RU" sz="1800" dirty="0" err="1"/>
              <a:t>EfficientNet</a:t>
            </a:r>
            <a:r>
              <a:rPr lang="ru-RU" sz="1800" dirty="0"/>
              <a:t>). Позволяет гибко выбирать архитектуру в зависимости от требований к точности и вычислительной нагрузке.</a:t>
            </a:r>
          </a:p>
          <a:p>
            <a:pPr marL="0" indent="0">
              <a:buNone/>
            </a:pPr>
            <a:r>
              <a:rPr lang="ru-RU" sz="1800" dirty="0" err="1"/>
              <a:t>OpenCV</a:t>
            </a:r>
            <a:r>
              <a:rPr lang="ru-RU" sz="1800" dirty="0"/>
              <a:t> – библиотека компьютерного зрения, используемая для предобработки кадров, изменения размера, конвертации форматов и наложения результатов анализа на видеопоток в реальном времени.</a:t>
            </a:r>
          </a:p>
          <a:p>
            <a:pPr marL="0" indent="0">
              <a:buNone/>
            </a:pPr>
            <a:r>
              <a:rPr lang="ru-RU" sz="1800" dirty="0"/>
              <a:t>Комбинация данных инструментов позволяет реализовать конвейер обработки: детекция → выравнивание → извлечение признаков → классификация, полностью автоматизированный на стороне AI-шлюза.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686E8C-5C6E-4C73-90BC-84349D9F5C1C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5/22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55" y="-189056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Библиотеки и модели компьютерного зрения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3333754-CF45-0E50-8B8C-EF42D0C203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686" y="4147518"/>
            <a:ext cx="8218138" cy="261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8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118"/>
            <a:ext cx="10515600" cy="5839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Основные функции:</a:t>
            </a:r>
          </a:p>
          <a:p>
            <a:r>
              <a:rPr lang="ru-RU" sz="1800" dirty="0"/>
              <a:t>Захват видеопотока через браузерные API без установки дополнительных плагинов</a:t>
            </a:r>
          </a:p>
          <a:p>
            <a:r>
              <a:rPr lang="ru-RU" sz="1800" dirty="0"/>
              <a:t>Детекция лиц и классификация базовых эмоций в реальном времени</a:t>
            </a:r>
          </a:p>
          <a:p>
            <a:r>
              <a:rPr lang="ru-RU" sz="1800" dirty="0"/>
              <a:t>Отслеживание изменения эмоционального состояния в течение сессии с фиксацией временных меток</a:t>
            </a:r>
          </a:p>
          <a:p>
            <a:r>
              <a:rPr lang="ru-RU" sz="1800" dirty="0"/>
              <a:t>Адаптивная частота отправки кадров для балансировки нагрузки на сеть и сервер</a:t>
            </a:r>
          </a:p>
          <a:p>
            <a:pPr marL="0" indent="0">
              <a:buNone/>
            </a:pPr>
            <a:r>
              <a:rPr lang="ru-RU" sz="1800" dirty="0"/>
              <a:t>Дополнительные функции:</a:t>
            </a:r>
          </a:p>
          <a:p>
            <a:r>
              <a:rPr lang="ru-RU" sz="1800" dirty="0"/>
              <a:t>Вычисление метрик вовлечённости на основе частоты и интенсивности эмоциональных проявлений</a:t>
            </a:r>
          </a:p>
          <a:p>
            <a:r>
              <a:rPr lang="ru-RU" sz="1800" dirty="0"/>
              <a:t>Фильтрация ложных срабатываний при отсутствии лиц в кадре или при низком качестве освещения</a:t>
            </a:r>
          </a:p>
          <a:p>
            <a:r>
              <a:rPr lang="ru-RU" sz="1800" dirty="0"/>
              <a:t>Экспорт сырых данных анализа в формате JSON для последующей агрегации в отчётах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686E8C-5C6E-4C73-90BC-84349D9F5C1C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5/22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55" y="-189056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Функции модуля анализа видео</a:t>
            </a:r>
          </a:p>
        </p:txBody>
      </p:sp>
    </p:spTree>
    <p:extLst>
      <p:ext uri="{BB962C8B-B14F-4D97-AF65-F5344CB8AC3E}">
        <p14:creationId xmlns:p14="http://schemas.microsoft.com/office/powerpoint/2010/main" val="281831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9118"/>
            <a:ext cx="10515600" cy="583961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800" dirty="0"/>
              <a:t>Основные функции:</a:t>
            </a:r>
          </a:p>
          <a:p>
            <a:pPr marL="0" indent="0">
              <a:buNone/>
            </a:pPr>
            <a:r>
              <a:rPr lang="ru-RU" sz="1800" dirty="0"/>
              <a:t>• Захват аудиопотока с микрофона в режиме реального времени</a:t>
            </a:r>
          </a:p>
          <a:p>
            <a:pPr marL="0" indent="0">
              <a:buNone/>
            </a:pPr>
            <a:r>
              <a:rPr lang="ru-RU" sz="1800" dirty="0"/>
              <a:t>• Преобразование речевого сигнала в текстовое представление</a:t>
            </a:r>
          </a:p>
          <a:p>
            <a:pPr marL="0" indent="0">
              <a:buNone/>
            </a:pPr>
            <a:r>
              <a:rPr lang="ru-RU" sz="1800" dirty="0"/>
              <a:t>• Разделение реплик по участникам встречи с сохранением временных меток</a:t>
            </a:r>
          </a:p>
          <a:p>
            <a:pPr marL="0" indent="0">
              <a:buNone/>
            </a:pPr>
            <a:r>
              <a:rPr lang="ru-RU" sz="1800" dirty="0"/>
              <a:t>• Передача промежуточных и финальных результатов </a:t>
            </a:r>
            <a:r>
              <a:rPr lang="ru-RU" sz="1800" dirty="0" err="1"/>
              <a:t>транскрибации</a:t>
            </a:r>
            <a:r>
              <a:rPr lang="ru-RU" sz="1800" dirty="0"/>
              <a:t> в интерфейс</a:t>
            </a:r>
          </a:p>
          <a:p>
            <a:pPr marL="0" indent="0">
              <a:buNone/>
            </a:pPr>
            <a:r>
              <a:rPr lang="ru-RU" sz="1800" dirty="0"/>
              <a:t>Дополнительные функции:</a:t>
            </a:r>
          </a:p>
          <a:p>
            <a:pPr marL="0" indent="0">
              <a:buNone/>
            </a:pPr>
            <a:r>
              <a:rPr lang="ru-RU" sz="1800" dirty="0"/>
              <a:t>• Оценка уверенности распознавания и определение языка речи</a:t>
            </a:r>
          </a:p>
          <a:p>
            <a:pPr marL="0" indent="0">
              <a:buNone/>
            </a:pPr>
            <a:r>
              <a:rPr lang="ru-RU" sz="1800" dirty="0"/>
              <a:t>• Фильтрация фоновых шумов и адаптация к качеству аудиосигнала</a:t>
            </a:r>
          </a:p>
          <a:p>
            <a:pPr marL="0" indent="0">
              <a:buNone/>
            </a:pPr>
            <a:r>
              <a:rPr lang="ru-RU" sz="1800" dirty="0"/>
              <a:t>• Экспорт текстовых данных для последующей агрегации в аналитических отчётах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686E8C-5C6E-4C73-90BC-84349D9F5C1C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5/22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55" y="-189056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Функции модуля распознавания речи</a:t>
            </a:r>
          </a:p>
        </p:txBody>
      </p:sp>
    </p:spTree>
    <p:extLst>
      <p:ext uri="{BB962C8B-B14F-4D97-AF65-F5344CB8AC3E}">
        <p14:creationId xmlns:p14="http://schemas.microsoft.com/office/powerpoint/2010/main" val="159339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C9F7A7BF-345D-4464-BA61-1943803CE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9164" y="969118"/>
            <a:ext cx="4856924" cy="5839612"/>
          </a:xfrm>
        </p:spPr>
        <p:txBody>
          <a:bodyPr>
            <a:normAutofit/>
          </a:bodyPr>
          <a:lstStyle/>
          <a:p>
            <a:r>
              <a:rPr lang="ru-RU" sz="1800" dirty="0"/>
              <a:t>В связи с необходимостью более детального анализа мимики и положения головы в пространстве, в систему интегрирована модель </a:t>
            </a:r>
            <a:r>
              <a:rPr lang="ru-RU" sz="1800" dirty="0" err="1"/>
              <a:t>MediaPipe</a:t>
            </a:r>
            <a:r>
              <a:rPr lang="ru-RU" sz="1800" dirty="0"/>
              <a:t> Face </a:t>
            </a:r>
            <a:r>
              <a:rPr lang="ru-RU" sz="1800" dirty="0" err="1"/>
              <a:t>Landmarker</a:t>
            </a:r>
            <a:r>
              <a:rPr lang="ru-RU" sz="1800" dirty="0"/>
              <a:t> от Google.</a:t>
            </a:r>
          </a:p>
          <a:p>
            <a:r>
              <a:rPr lang="ru-RU" sz="1800" dirty="0"/>
              <a:t>На вход модели подаётся выровненное изображение лица. Модель строит плотную сетку из 468 трёхмерных ключевых точек, охватывающих контуры глаз, бровей, носа, губ и овала лица.</a:t>
            </a:r>
          </a:p>
          <a:p>
            <a:r>
              <a:rPr lang="ru-RU" sz="1800" dirty="0"/>
              <a:t>На выходе формируются </a:t>
            </a:r>
            <a:r>
              <a:rPr lang="ru-RU" sz="1800" dirty="0" err="1"/>
              <a:t>blendshape</a:t>
            </a:r>
            <a:r>
              <a:rPr lang="ru-RU" sz="1800" dirty="0"/>
              <a:t>-коэффициенты (активность групп лицевых мышц), углы поворота головы (</a:t>
            </a:r>
            <a:r>
              <a:rPr lang="ru-RU" sz="1800" dirty="0" err="1"/>
              <a:t>yaw</a:t>
            </a:r>
            <a:r>
              <a:rPr lang="ru-RU" sz="1800" dirty="0"/>
              <a:t>, </a:t>
            </a:r>
            <a:r>
              <a:rPr lang="ru-RU" sz="1800" dirty="0" err="1"/>
              <a:t>pitch</a:t>
            </a:r>
            <a:r>
              <a:rPr lang="ru-RU" sz="1800" dirty="0"/>
              <a:t>, </a:t>
            </a:r>
            <a:r>
              <a:rPr lang="ru-RU" sz="1800" dirty="0" err="1"/>
              <a:t>roll</a:t>
            </a:r>
            <a:r>
              <a:rPr lang="ru-RU" sz="1800" dirty="0"/>
              <a:t>) и данные для отслеживания </a:t>
            </a:r>
            <a:r>
              <a:rPr lang="ru-RU" sz="1800" dirty="0" err="1"/>
              <a:t>микровыражений</a:t>
            </a:r>
            <a:r>
              <a:rPr lang="ru-RU" sz="1800" dirty="0"/>
              <a:t>.</a:t>
            </a:r>
          </a:p>
          <a:p>
            <a:r>
              <a:rPr lang="ru-RU" sz="1800" dirty="0"/>
              <a:t>Модель перезаписывает и обогащает базовые данные классификации, позволяя системе учитывать не только статические эмоции, но и динамику мимики</a:t>
            </a:r>
            <a:r>
              <a:rPr lang="en-US" sz="1800" dirty="0"/>
              <a:t>.</a:t>
            </a:r>
            <a:endParaRPr lang="ru-RU" sz="1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4686E8C-5C6E-4C73-90BC-84349D9F5C1C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5/22</a:t>
            </a:r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58CB9A-86AF-B0B7-3E9B-73D490908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955" y="-189056"/>
            <a:ext cx="10515600" cy="1325563"/>
          </a:xfrm>
        </p:spPr>
        <p:txBody>
          <a:bodyPr>
            <a:normAutofit/>
          </a:bodyPr>
          <a:lstStyle/>
          <a:p>
            <a:r>
              <a:rPr lang="ru-RU" sz="4000" dirty="0"/>
              <a:t>Модель </a:t>
            </a:r>
            <a:r>
              <a:rPr lang="en-US" sz="4000" dirty="0" err="1"/>
              <a:t>MediaPipe</a:t>
            </a:r>
            <a:r>
              <a:rPr lang="en-US" sz="4000" dirty="0"/>
              <a:t> Face </a:t>
            </a:r>
            <a:r>
              <a:rPr lang="en-US" sz="4000" dirty="0" err="1"/>
              <a:t>Landmarker</a:t>
            </a:r>
            <a:endParaRPr lang="en-US" sz="4000" dirty="0"/>
          </a:p>
        </p:txBody>
      </p:sp>
      <p:pic>
        <p:nvPicPr>
          <p:cNvPr id="7" name="Рисунок 6" descr="Задача &quot;Опорный знак на лице&quot;">
            <a:extLst>
              <a:ext uri="{FF2B5EF4-FFF2-40B4-BE49-F238E27FC236}">
                <a16:creationId xmlns:a16="http://schemas.microsoft.com/office/drawing/2014/main" id="{AC6A1973-8F20-E21C-8984-347E221109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2411" y="1429115"/>
            <a:ext cx="5940425" cy="32562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13781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BAAD23-B9AF-47EB-97C4-C8F7C47862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Средство разработки пользовательского интерфейса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95FAD0-980E-4610-98D5-906FF259B0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1368"/>
            <a:ext cx="9613392" cy="4526280"/>
          </a:xfrm>
        </p:spPr>
        <p:txBody>
          <a:bodyPr>
            <a:normAutofit fontScale="85000" lnSpcReduction="10000"/>
          </a:bodyPr>
          <a:lstStyle/>
          <a:p>
            <a:r>
              <a:rPr lang="ru-RU" dirty="0" err="1"/>
              <a:t>React</a:t>
            </a:r>
            <a:r>
              <a:rPr lang="ru-RU" dirty="0"/>
              <a:t> 18 + </a:t>
            </a:r>
            <a:r>
              <a:rPr lang="ru-RU" dirty="0" err="1"/>
              <a:t>TypeScript</a:t>
            </a:r>
            <a:r>
              <a:rPr lang="ru-RU" dirty="0"/>
              <a:t> + </a:t>
            </a:r>
            <a:r>
              <a:rPr lang="ru-RU" dirty="0" err="1"/>
              <a:t>Vite</a:t>
            </a:r>
            <a:r>
              <a:rPr lang="ru-RU" dirty="0"/>
              <a:t> – современный стек для создания высокопроизводительных одностраничных приложений. Типизированный код повышает надёжность разработки и упрощает поддержку системы.</a:t>
            </a:r>
          </a:p>
          <a:p>
            <a:r>
              <a:rPr lang="ru-RU" dirty="0"/>
              <a:t>Приложение состоит из клиентской части (отображение медиа, аналитики, управление сессиями) и серверной логики. Чёткое разделение ответственности ускоряет разработку и тестирование.</a:t>
            </a:r>
          </a:p>
          <a:p>
            <a:r>
              <a:rPr lang="ru-RU" dirty="0"/>
              <a:t>Инструменты экосистемы обеспечивают минимизацию перерисовок, кэширование серверного состояния и автоматическое обновление данных в реальном времени.</a:t>
            </a:r>
          </a:p>
          <a:p>
            <a:r>
              <a:rPr lang="ru-RU" dirty="0"/>
              <a:t>Адаптивная вёрстка и поддержка тем оформления гарантируют корректное отображение на десктопах и планшетах, что соответствует требованиям современных корпоративных платформ.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D9155A-5477-428A-B594-4DE38D5D9805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913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Информационное обеспечение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513E5-CE54-4AB7-8986-EBEFE160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90688"/>
            <a:ext cx="10677144" cy="4802187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Информационное обеспечение АСУ – совокупность системно-ориентированных данных, описывающих принятый в системе словарь базовых описаний, классификаторы и актуализируемых данных о состоянии информационной модели на всех этапах жизненного цикла.</a:t>
            </a:r>
          </a:p>
          <a:p>
            <a:r>
              <a:rPr lang="ru-RU" dirty="0"/>
              <a:t>Информационным обеспечением системы является набор обученных нейросетевых моделей, конфигурационных файлов и алгоритмов агрегации, с которыми взаимодействует программный комплекс.</a:t>
            </a:r>
          </a:p>
          <a:p>
            <a:r>
              <a:rPr lang="ru-RU" dirty="0"/>
              <a:t>Входной информацией является:</a:t>
            </a:r>
          </a:p>
          <a:p>
            <a:pPr lvl="1"/>
            <a:r>
              <a:rPr lang="ru-RU" dirty="0"/>
              <a:t>Видеопоток с веб-камеры (640×480+, 15–30 кадров/с, формат JPEG через </a:t>
            </a:r>
            <a:r>
              <a:rPr lang="ru-RU" dirty="0" err="1"/>
              <a:t>WebSocket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Аудиопоток с микрофона (16 кГц, моно, формат </a:t>
            </a:r>
            <a:r>
              <a:rPr lang="ru-RU" dirty="0" err="1"/>
              <a:t>WebM</a:t>
            </a:r>
            <a:r>
              <a:rPr lang="ru-RU" dirty="0"/>
              <a:t>/Opus)</a:t>
            </a:r>
          </a:p>
          <a:p>
            <a:r>
              <a:rPr lang="ru-RU" dirty="0"/>
              <a:t>Данные поступают непрерывно, обрабатываются в изолированных AI-шлюзах и сохраняются в реляционной СУБД с использованием формата JSONB для гибкого хранения разнородных аналитических событий.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50098F-7052-48E4-A34F-402D8BB81F7F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7653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Датасеты для обучения моделей эмоций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513E5-CE54-4AB7-8986-EBEFE160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90688"/>
            <a:ext cx="10677144" cy="4802187"/>
          </a:xfrm>
        </p:spPr>
        <p:txBody>
          <a:bodyPr>
            <a:normAutofit fontScale="92500"/>
          </a:bodyPr>
          <a:lstStyle/>
          <a:p>
            <a:r>
              <a:rPr lang="ru-RU" dirty="0"/>
              <a:t>Для обучения и валидации моделей классификации эмоций использовались открытые датасеты FER-2013 (35 000 изображений), </a:t>
            </a:r>
            <a:r>
              <a:rPr lang="ru-RU" dirty="0" err="1"/>
              <a:t>AffectNet</a:t>
            </a:r>
            <a:r>
              <a:rPr lang="ru-RU" dirty="0"/>
              <a:t> (1 000 000+ размеченных кадров) и RAF-DB.</a:t>
            </a:r>
          </a:p>
          <a:p>
            <a:r>
              <a:rPr lang="ru-RU" dirty="0"/>
              <a:t>Изображения прошли предварительную подготовку: нормализация размера, конвертация в градации серого, выравнивание геометрии лица на основе ключевых точек.</a:t>
            </a:r>
          </a:p>
          <a:p>
            <a:r>
              <a:rPr lang="ru-RU" dirty="0"/>
              <a:t>Для повышения устойчивости модели к изменениям освещения и ракурсов применялось </a:t>
            </a:r>
            <a:r>
              <a:rPr lang="ru-RU" dirty="0" err="1"/>
              <a:t>аугментирование</a:t>
            </a:r>
            <a:r>
              <a:rPr lang="ru-RU" dirty="0"/>
              <a:t>: случайные повороты, сдвиги, изменение контрастности и добавление шума.</a:t>
            </a:r>
          </a:p>
          <a:p>
            <a:r>
              <a:rPr lang="ru-RU" dirty="0"/>
              <a:t>Разметка осуществлялась по 7 категориям (6 базовых эмоций + нейтрально) с перекрёстной проверкой </a:t>
            </a:r>
            <a:r>
              <a:rPr lang="ru-RU" dirty="0" err="1"/>
              <a:t>аннотаторов</a:t>
            </a:r>
            <a:r>
              <a:rPr lang="ru-RU" dirty="0"/>
              <a:t> для минимизации ошибок в обучающей выборке.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50098F-7052-48E4-A34F-402D8BB81F7F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20910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A4237-7384-4D65-B40A-9F7802E2C2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Датасеты для обучения моделей распознавания речи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03513E5-CE54-4AB7-8986-EBEFE1603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656" y="1690688"/>
            <a:ext cx="10677144" cy="4802187"/>
          </a:xfrm>
        </p:spPr>
        <p:txBody>
          <a:bodyPr>
            <a:normAutofit fontScale="92500"/>
          </a:bodyPr>
          <a:lstStyle/>
          <a:p>
            <a:r>
              <a:rPr lang="ru-RU" dirty="0"/>
              <a:t>Для обучения и тонкой настройки модели распознавания речи использовались многоязычные датасеты </a:t>
            </a:r>
            <a:r>
              <a:rPr lang="ru-RU" dirty="0" err="1"/>
              <a:t>LibriSpeech</a:t>
            </a:r>
            <a:r>
              <a:rPr lang="ru-RU" dirty="0"/>
              <a:t> (1000 часов размеченной речи) и Mozilla Common Voice.</a:t>
            </a:r>
          </a:p>
          <a:p>
            <a:r>
              <a:rPr lang="ru-RU" dirty="0"/>
              <a:t>Аудиозаписи прошли предобработку: приведение к единой частоте дискретизации 16 кГц, нормализация громкости, фильтрация низкочастотных шумов и удаление сегментов с молчанием.</a:t>
            </a:r>
          </a:p>
          <a:p>
            <a:r>
              <a:rPr lang="ru-RU" dirty="0"/>
              <a:t>Для адаптации под русскоязычные HR-сценарии применялась дополнительная разметка профессиональной терминологии и коррекция фонетических особенностей речи.</a:t>
            </a:r>
          </a:p>
          <a:p>
            <a:r>
              <a:rPr lang="ru-RU" dirty="0"/>
              <a:t>Датасеты разделены на обучающую, </a:t>
            </a:r>
            <a:r>
              <a:rPr lang="ru-RU" dirty="0" err="1"/>
              <a:t>валидационную</a:t>
            </a:r>
            <a:r>
              <a:rPr lang="ru-RU" dirty="0"/>
              <a:t> и тестовую выборки для объективной оценки метрики WER (Word </a:t>
            </a:r>
            <a:r>
              <a:rPr lang="ru-RU" dirty="0" err="1"/>
              <a:t>Error</a:t>
            </a:r>
            <a:r>
              <a:rPr lang="ru-RU" dirty="0"/>
              <a:t> Rate) и предотвращения переобучения модели.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B50098F-7052-48E4-A34F-402D8BB81F7F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11/22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923458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E47E73-D877-4497-A30F-9D6C2A4702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720" y="502887"/>
            <a:ext cx="4806346" cy="1325563"/>
          </a:xfrm>
        </p:spPr>
        <p:txBody>
          <a:bodyPr>
            <a:normAutofit fontScale="90000"/>
          </a:bodyPr>
          <a:lstStyle/>
          <a:p>
            <a:r>
              <a:rPr lang="ru-RU" dirty="0"/>
              <a:t>Алгоритмическое обеспечение. Алгоритм работы программы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56DD11-6E19-4DE8-AAA6-BECB7A79B558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</a:t>
            </a:r>
            <a:r>
              <a:rPr lang="ru-RU" dirty="0"/>
              <a:t>2</a:t>
            </a:r>
            <a:r>
              <a:rPr lang="en-US" dirty="0"/>
              <a:t>/22</a:t>
            </a:r>
            <a:endParaRPr lang="ru-RU" dirty="0"/>
          </a:p>
        </p:txBody>
      </p:sp>
      <p:pic>
        <p:nvPicPr>
          <p:cNvPr id="14" name="Рисунок 13" descr="Изображение выглядит как текст, снимок экрана, Шрифт, круг&#10;&#10;Автоматически созданное описание">
            <a:extLst>
              <a:ext uri="{FF2B5EF4-FFF2-40B4-BE49-F238E27FC236}">
                <a16:creationId xmlns:a16="http://schemas.microsoft.com/office/drawing/2014/main" id="{64B798B7-B817-76FD-B22A-243899D54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8898" y="93216"/>
            <a:ext cx="7577678" cy="6452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45902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7D9155A-5477-428A-B594-4DE38D5D9805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9/22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240AF3-3AA3-3709-E167-D4F5A9CA4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1570743"/>
            <a:ext cx="10222992" cy="5224572"/>
          </a:xfrm>
          <a:prstGeom prst="rect">
            <a:avLst/>
          </a:prstGeom>
        </p:spPr>
      </p:pic>
      <p:sp>
        <p:nvSpPr>
          <p:cNvPr id="9" name="Заголовок 8">
            <a:extLst>
              <a:ext uri="{FF2B5EF4-FFF2-40B4-BE49-F238E27FC236}">
                <a16:creationId xmlns:a16="http://schemas.microsoft.com/office/drawing/2014/main" id="{97468337-8816-F43C-CDDA-701513820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Интерфейс системы</a:t>
            </a:r>
          </a:p>
        </p:txBody>
      </p:sp>
    </p:spTree>
    <p:extLst>
      <p:ext uri="{BB962C8B-B14F-4D97-AF65-F5344CB8AC3E}">
        <p14:creationId xmlns:p14="http://schemas.microsoft.com/office/powerpoint/2010/main" val="36959250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4679AE-9695-41ED-964A-F63B6DC86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DA6D676-1DC8-4A9C-81A7-79527C288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7162"/>
            <a:ext cx="10515600" cy="5308846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В результате прохождения практики были изучены и описаны средства разработки: языки </a:t>
            </a:r>
            <a:r>
              <a:rPr lang="ru-RU" dirty="0" err="1"/>
              <a:t>TypeScript</a:t>
            </a:r>
            <a:r>
              <a:rPr lang="ru-RU" dirty="0"/>
              <a:t>, Go, Python, фреймворки </a:t>
            </a:r>
            <a:r>
              <a:rPr lang="ru-RU" dirty="0" err="1"/>
              <a:t>React</a:t>
            </a:r>
            <a:r>
              <a:rPr lang="ru-RU" dirty="0"/>
              <a:t>, </a:t>
            </a:r>
            <a:r>
              <a:rPr lang="ru-RU" dirty="0" err="1"/>
              <a:t>Gin</a:t>
            </a:r>
            <a:r>
              <a:rPr lang="ru-RU" dirty="0"/>
              <a:t>, </a:t>
            </a:r>
            <a:r>
              <a:rPr lang="ru-RU" dirty="0" err="1"/>
              <a:t>FastAPI</a:t>
            </a:r>
            <a:r>
              <a:rPr lang="ru-RU" dirty="0"/>
              <a:t>, </a:t>
            </a:r>
            <a:r>
              <a:rPr lang="ru-RU" dirty="0" err="1"/>
              <a:t>сверточные</a:t>
            </a:r>
            <a:r>
              <a:rPr lang="ru-RU" dirty="0"/>
              <a:t> и рекуррентные нейронные сети, библиотеки </a:t>
            </a:r>
            <a:r>
              <a:rPr lang="ru-RU" dirty="0" err="1"/>
              <a:t>OpenCV</a:t>
            </a:r>
            <a:r>
              <a:rPr lang="ru-RU" dirty="0"/>
              <a:t>, </a:t>
            </a:r>
            <a:r>
              <a:rPr lang="ru-RU" dirty="0" err="1"/>
              <a:t>DeepFace</a:t>
            </a:r>
            <a:r>
              <a:rPr lang="ru-RU" dirty="0"/>
              <a:t>, </a:t>
            </a:r>
            <a:r>
              <a:rPr lang="ru-RU" dirty="0" err="1"/>
              <a:t>MediaPipe</a:t>
            </a:r>
            <a:r>
              <a:rPr lang="ru-RU" dirty="0"/>
              <a:t>, </a:t>
            </a:r>
            <a:r>
              <a:rPr lang="ru-RU" dirty="0" err="1"/>
              <a:t>faster-whisper</a:t>
            </a:r>
            <a:r>
              <a:rPr lang="ru-RU" dirty="0"/>
              <a:t>, СУБД </a:t>
            </a:r>
            <a:r>
              <a:rPr lang="ru-RU" dirty="0" err="1"/>
              <a:t>PostgreSQL</a:t>
            </a:r>
            <a:r>
              <a:rPr lang="ru-RU" dirty="0"/>
              <a:t>, среда Draw.io.</a:t>
            </a:r>
          </a:p>
          <a:p>
            <a:r>
              <a:rPr lang="ru-RU" dirty="0"/>
              <a:t>Проработаны виды обеспечения: информационное (видео/аудиопотоки, датасеты), программное (клиент-серверная архитектура, </a:t>
            </a:r>
            <a:r>
              <a:rPr lang="ru-RU" dirty="0" err="1"/>
              <a:t>микросервисы</a:t>
            </a:r>
            <a:r>
              <a:rPr lang="ru-RU" dirty="0"/>
              <a:t>), алгоритмическое (детекция, </a:t>
            </a:r>
            <a:r>
              <a:rPr lang="ru-RU" dirty="0" err="1"/>
              <a:t>транскрибация</a:t>
            </a:r>
            <a:r>
              <a:rPr lang="ru-RU" dirty="0"/>
              <a:t>, </a:t>
            </a:r>
            <a:r>
              <a:rPr lang="ru-RU" dirty="0" err="1"/>
              <a:t>late</a:t>
            </a:r>
            <a:r>
              <a:rPr lang="ru-RU" dirty="0"/>
              <a:t> </a:t>
            </a:r>
            <a:r>
              <a:rPr lang="ru-RU" dirty="0" err="1"/>
              <a:t>fusion</a:t>
            </a:r>
            <a:r>
              <a:rPr lang="ru-RU" dirty="0"/>
              <a:t>), математическое (метрики точности, WER).</a:t>
            </a:r>
          </a:p>
          <a:p>
            <a:r>
              <a:rPr lang="ru-RU" dirty="0"/>
              <a:t>Реализованы модули анализа лица и эмоций на основе MTCNN и </a:t>
            </a:r>
            <a:r>
              <a:rPr lang="ru-RU" dirty="0" err="1"/>
              <a:t>предобученных</a:t>
            </a:r>
            <a:r>
              <a:rPr lang="ru-RU" dirty="0"/>
              <a:t> CNN, а также модуль распознавания речи </a:t>
            </a:r>
            <a:r>
              <a:rPr lang="ru-RU" dirty="0" err="1"/>
              <a:t>faster-whisper</a:t>
            </a:r>
            <a:r>
              <a:rPr lang="ru-RU" dirty="0"/>
              <a:t> с поддержкой </a:t>
            </a:r>
            <a:r>
              <a:rPr lang="ru-RU" dirty="0" err="1"/>
              <a:t>streaming</a:t>
            </a:r>
            <a:r>
              <a:rPr lang="ru-RU" dirty="0"/>
              <a:t>-обработки.</a:t>
            </a:r>
          </a:p>
          <a:p>
            <a:r>
              <a:rPr lang="ru-RU" dirty="0"/>
              <a:t>Модули интегрированы в единую веб-платформу, протестированы в смоделированных HR-сценариях и готовы к внедрению с соблюдением требований </a:t>
            </a:r>
            <a:r>
              <a:rPr lang="ru-RU"/>
              <a:t>ФЗ-152.</a:t>
            </a:r>
            <a:endParaRPr lang="ru-RU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E0758E-ED01-4E2A-9F8C-4C0573556692}"/>
              </a:ext>
            </a:extLst>
          </p:cNvPr>
          <p:cNvSpPr txBox="1"/>
          <p:nvPr/>
        </p:nvSpPr>
        <p:spPr>
          <a:xfrm>
            <a:off x="10990555" y="6391922"/>
            <a:ext cx="870012" cy="372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2</a:t>
            </a:r>
            <a:r>
              <a:rPr lang="en-US" dirty="0"/>
              <a:t>2/22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682195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</TotalTime>
  <Words>1440</Words>
  <Application>Microsoft Office PowerPoint</Application>
  <PresentationFormat>Широкоэкранный</PresentationFormat>
  <Paragraphs>107</Paragraphs>
  <Slides>17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Calibri Light</vt:lpstr>
      <vt:lpstr>Тема Office</vt:lpstr>
      <vt:lpstr>ПРОИЗВОДСТВЕННАЯ ПРАКТИКА, ПРЕДДИПЛОМНАЯ ПРАКТИКА </vt:lpstr>
      <vt:lpstr>Цель и задачи практики</vt:lpstr>
      <vt:lpstr>Актуальность</vt:lpstr>
      <vt:lpstr>Средства и технологии разработки</vt:lpstr>
      <vt:lpstr>Средства и технологии разработки</vt:lpstr>
      <vt:lpstr>Модуль анализа лица и эмоций</vt:lpstr>
      <vt:lpstr>Библиотеки и модели компьютерного зрения</vt:lpstr>
      <vt:lpstr>Функции модуля анализа видео</vt:lpstr>
      <vt:lpstr>Функции модуля распознавания речи</vt:lpstr>
      <vt:lpstr>Модель MediaPipe Face Landmarker</vt:lpstr>
      <vt:lpstr>Средство разработки пользовательского интерфейса</vt:lpstr>
      <vt:lpstr>Информационное обеспечение</vt:lpstr>
      <vt:lpstr>Датасеты для обучения моделей эмоций</vt:lpstr>
      <vt:lpstr>Датасеты для обучения моделей распознавания речи</vt:lpstr>
      <vt:lpstr>Алгоритмическое обеспечение. Алгоритм работы программы</vt:lpstr>
      <vt:lpstr>Интерфейс системы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ПРОИЗВОДСТВЕННАЯ ПРАКТИКА, ПРЕДДИПЛОМНАЯ ПРАКТИКА </dc:title>
  <dc:creator>Роман Чирко</dc:creator>
  <cp:lastModifiedBy>Виталий Демьянцев</cp:lastModifiedBy>
  <cp:revision>126</cp:revision>
  <dcterms:created xsi:type="dcterms:W3CDTF">2024-05-28T15:56:43Z</dcterms:created>
  <dcterms:modified xsi:type="dcterms:W3CDTF">2026-05-21T09:29:04Z</dcterms:modified>
</cp:coreProperties>
</file>