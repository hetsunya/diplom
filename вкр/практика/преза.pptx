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82" r:id="rId5"/>
    <p:sldId id="259" r:id="rId6"/>
    <p:sldId id="260" r:id="rId7"/>
    <p:sldId id="283" r:id="rId8"/>
    <p:sldId id="284" r:id="rId9"/>
    <p:sldId id="262" r:id="rId10"/>
    <p:sldId id="261" r:id="rId11"/>
    <p:sldId id="285" r:id="rId12"/>
    <p:sldId id="264" r:id="rId13"/>
    <p:sldId id="266" r:id="rId14"/>
    <p:sldId id="267" r:id="rId15"/>
    <p:sldId id="268" r:id="rId16"/>
    <p:sldId id="269" r:id="rId17"/>
    <p:sldId id="272" r:id="rId18"/>
    <p:sldId id="274" r:id="rId19"/>
    <p:sldId id="276" r:id="rId20"/>
    <p:sldId id="277" r:id="rId21"/>
    <p:sldId id="280" r:id="rId2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C8BE10-CF6A-433B-A665-B07A0F5F13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F2B8DFD-3DE7-4FBB-9379-4CA65BD528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E9C10B6-9AD9-48F7-8A51-653EBDA6B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EB9DB-94B2-4D97-AB29-D096994DA229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D95CF36-2944-4819-9146-7A1DED1EA1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5C57A1D-78F6-4A51-BE24-BBABD28DC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0926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171673-A45B-40E8-8606-A35A0D982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E615B0D-2B65-4A3B-9210-B8D32D10B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4644779-8B0E-4870-BE22-68D8EC4E5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EB9DB-94B2-4D97-AB29-D096994DA229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9BE05C-2C3A-41C6-8170-5C715265A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55380D7-1212-4185-8C9F-DA456C4DC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42648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B186F-FA08-4D4E-967C-1F799E316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971C260-AFB2-4F3F-9F9D-D70FCC9CA8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56EF3DB-C509-46F4-A47B-CB52ED428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EB9DB-94B2-4D97-AB29-D096994DA229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E7B894F-8017-40E9-BE58-EE2B32DC7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885ACA-E8F7-448C-92B8-76FCF2F51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08643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49F36F-C100-425F-A6D4-442C831C9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F1CB49F-A20E-4BC1-B7B9-AB2678E66D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F6BDC06-E41E-45A8-92F3-F23B09C876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DC4B84D-F0BD-41AC-B75E-7ED71D519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EB9DB-94B2-4D97-AB29-D096994DA229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7D1283D-6573-461F-BE8C-92BE392CF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35D11FB-AD6E-4F64-BA97-F9B790FCD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6873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E3FE31-F08D-4F78-BB13-D092EA9DD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87FB431-4874-4F08-BB5A-F0A67B68B2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58FB0E6-7B7E-4DA1-879B-E5DD6EACC7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53BC42D-0B1D-40F8-957F-3259926153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668AD02-CE5C-405A-B4AB-47C8A3E9F5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ADF9323-1E59-422D-B5E1-53CEED9649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EB9DB-94B2-4D97-AB29-D096994DA229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CBBE23A-C69D-4BC4-A044-7DE420DFB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9FAECF8-2DB3-483A-A51A-72E3F321C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3061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525297-E1DF-4F49-844C-B5004B497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68D61B0-571E-4634-820D-BE8C43CDC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EB9DB-94B2-4D97-AB29-D096994DA229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C9AB50D-DED9-4F09-B633-0D1A479CC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AA73912-C4BB-4DEC-8A81-A4DC61ABE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7575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768E753-EE03-4932-B563-6CB3695FB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EB9DB-94B2-4D97-AB29-D096994DA229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74E1FC9-E731-4E2E-A678-2EAC238D3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88D96B6-73F8-42DC-9693-AEA5C147F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1700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8F7A58-7B76-41EA-8ED3-277621617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BDCBBDE-E02C-456B-AFF6-4B3969FB4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713A34A-7160-46D2-B526-1ABBF48DDE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CD33588-48BF-4723-90C0-34EB6673A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EB9DB-94B2-4D97-AB29-D096994DA229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4FBFF21-15CB-4547-87C3-5DF872D3A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AA8FAE0-BB62-42BB-832B-D94B813F2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301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6DFCD8-53BB-4463-BF82-6C7CA9DAB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955AB4A-951B-4140-B839-C72779208F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61F6312-54B5-4ADE-81FB-8EBE6FDA7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4805582-3CBF-48EF-8D6B-EF8C6060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EB9DB-94B2-4D97-AB29-D096994DA229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290B654-3B75-40D0-83FE-24DFB98C5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DCD482-790B-436A-A99F-2E534C50E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910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9B58C2-21EA-44AA-B7F3-4E258A3FD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BB08977-A57D-4110-80B2-538505DEF5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7FB0C64-00AF-4066-9CEE-B34830B9F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EB9DB-94B2-4D97-AB29-D096994DA229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415E4B-6CBF-47BB-BE97-CAE8A940B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3A9E350-9987-4E2A-A7EC-08500BFBD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03713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9CAE9B5-8DBF-43B5-9DE5-AF658E080F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72826EE-6F4D-4E7B-93E9-708EE53AB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E69952D-ECC0-4EE7-AD58-1F630F842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EB9DB-94B2-4D97-AB29-D096994DA229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DA583EC-4F2A-427F-8F43-695E9CE54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FB9DE81-5F8C-488E-89F3-E93A1361A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0784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163F25-8401-4050-B9C0-1864FD918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C158BF0-F39C-48A3-8E8A-C22EF5572C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115F282-4ED1-4FED-82A5-D48D197176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8EB9DB-94B2-4D97-AB29-D096994DA229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AA805AD-E84B-485F-BE45-31A48BA732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C1D08D-9EC8-40DB-9B46-669208259D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5956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74B1E9-7B85-41C6-AC8B-242A6B603E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ПРОИЗВОДСТВЕННАЯ ПРАКТИКА, ПРЕДДИПЛОМНАЯ ПРАКТИКА</a:t>
            </a:r>
            <a:br>
              <a:rPr lang="ru-RU" dirty="0"/>
            </a:b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CE82BE8-E71E-47E7-B354-024530FDD71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ru-RU" dirty="0"/>
              <a:t>Выполнил: студент группы 606-22 Демьянцев В.В.</a:t>
            </a:r>
          </a:p>
          <a:p>
            <a:pPr algn="r"/>
            <a:r>
              <a:rPr lang="ru-RU" dirty="0"/>
              <a:t>Научный руководитель: старший преподаватель </a:t>
            </a:r>
            <a:r>
              <a:rPr lang="ru-RU" dirty="0" err="1"/>
              <a:t>каф.АСОИУ</a:t>
            </a:r>
            <a:r>
              <a:rPr lang="ru-RU" dirty="0"/>
              <a:t> Горбунов Д.В.</a:t>
            </a:r>
          </a:p>
        </p:txBody>
      </p:sp>
    </p:spTree>
    <p:extLst>
      <p:ext uri="{BB962C8B-B14F-4D97-AF65-F5344CB8AC3E}">
        <p14:creationId xmlns:p14="http://schemas.microsoft.com/office/powerpoint/2010/main" val="23147736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263BA0-F9D7-4AEB-A9F7-D9E30D49B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 практики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29CC613-FDC1-4225-B204-891E0DB45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344" y="1426464"/>
            <a:ext cx="11530584" cy="4828031"/>
          </a:xfrm>
        </p:spPr>
        <p:txBody>
          <a:bodyPr>
            <a:noAutofit/>
          </a:bodyPr>
          <a:lstStyle/>
          <a:p>
            <a:pPr indent="0" algn="just">
              <a:lnSpc>
                <a:spcPct val="150000"/>
              </a:lnSpc>
              <a:buNone/>
            </a:pPr>
            <a:r>
              <a:rPr lang="ru-RU" sz="16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Цель: Разработать программную часть системы распознавания эмоций на основе ИНС с использованием компьютерного зрения и глубокого обучения.</a:t>
            </a:r>
          </a:p>
          <a:p>
            <a:pPr indent="0" algn="just">
              <a:lnSpc>
                <a:spcPct val="150000"/>
              </a:lnSpc>
              <a:buNone/>
            </a:pPr>
            <a:r>
              <a:rPr lang="ru-RU" sz="16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Задачи:</a:t>
            </a:r>
          </a:p>
          <a:p>
            <a:pPr indent="0" algn="just">
              <a:lnSpc>
                <a:spcPct val="150000"/>
              </a:lnSpc>
              <a:buNone/>
            </a:pPr>
            <a:r>
              <a:rPr lang="ru-RU" sz="16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Описание средств и технологий разработки</a:t>
            </a:r>
          </a:p>
          <a:p>
            <a:pPr indent="0" algn="just">
              <a:lnSpc>
                <a:spcPct val="150000"/>
              </a:lnSpc>
              <a:buNone/>
            </a:pPr>
            <a:r>
              <a:rPr lang="ru-RU" sz="16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Проработка видов обеспечения: информационное, программное, алгоритмическое, математическое, техническое</a:t>
            </a:r>
          </a:p>
          <a:p>
            <a:pPr indent="0" algn="just">
              <a:lnSpc>
                <a:spcPct val="150000"/>
              </a:lnSpc>
              <a:buNone/>
            </a:pPr>
            <a:r>
              <a:rPr lang="ru-RU" sz="16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Реализация модуля анализа лица и эмоций</a:t>
            </a:r>
          </a:p>
          <a:p>
            <a:pPr indent="0" algn="just">
              <a:lnSpc>
                <a:spcPct val="150000"/>
              </a:lnSpc>
              <a:buNone/>
            </a:pPr>
            <a:r>
              <a:rPr lang="ru-RU" sz="16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Реализация модуля распознавания речи</a:t>
            </a:r>
          </a:p>
          <a:p>
            <a:pPr indent="0" algn="just">
              <a:lnSpc>
                <a:spcPct val="150000"/>
              </a:lnSpc>
              <a:buNone/>
            </a:pPr>
            <a:r>
              <a:rPr lang="ru-RU" sz="16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Разработка пользовательского интерфейса</a:t>
            </a:r>
          </a:p>
          <a:p>
            <a:pPr indent="0" algn="just">
              <a:lnSpc>
                <a:spcPct val="150000"/>
              </a:lnSpc>
              <a:buNone/>
            </a:pPr>
            <a:r>
              <a:rPr lang="ru-RU" sz="16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Интеграция модулей ИИ в единую систему</a:t>
            </a:r>
          </a:p>
          <a:p>
            <a:pPr indent="0" algn="just">
              <a:lnSpc>
                <a:spcPct val="150000"/>
              </a:lnSpc>
              <a:buNone/>
            </a:pPr>
            <a:r>
              <a:rPr lang="ru-RU" sz="16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Подготовка отчёта по практике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8D8360-FA0F-440D-8156-2BF331DE0269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2</a:t>
            </a:r>
            <a:r>
              <a:rPr lang="en-US" dirty="0"/>
              <a:t>/22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804140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ru-RU" dirty="0"/>
              <a:t>Актуальность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F3E649-ADA8-4250-87FF-0757785BB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83" y="1118586"/>
            <a:ext cx="10830017" cy="5513033"/>
          </a:xfrm>
        </p:spPr>
        <p:txBody>
          <a:bodyPr>
            <a:normAutofit/>
          </a:bodyPr>
          <a:lstStyle/>
          <a:p>
            <a:r>
              <a:rPr lang="ru-RU" dirty="0"/>
              <a:t>Эмоциональный интеллект становится ключевым фактором эффективности в HR</a:t>
            </a:r>
          </a:p>
          <a:p>
            <a:r>
              <a:rPr lang="ru-RU" dirty="0"/>
              <a:t>Традиционные методы оценки (анкетирование, наблюдение) субъективны и трудоёмки</a:t>
            </a:r>
          </a:p>
          <a:p>
            <a:r>
              <a:rPr lang="ru-RU" dirty="0"/>
              <a:t>Технологии ИИ позволяют автоматизировать анализ эмоций в реальном времени</a:t>
            </a:r>
          </a:p>
          <a:p>
            <a:r>
              <a:rPr lang="ru-RU" dirty="0"/>
              <a:t>Мультимодальный подход (видео + аудио) повышает точность классификации до 85% и выше</a:t>
            </a:r>
          </a:p>
          <a:p>
            <a:r>
              <a:rPr lang="ru-RU" dirty="0"/>
              <a:t>Система снижает нагрузку на HR-специалистов и обеспечивает объективность оценки</a:t>
            </a:r>
          </a:p>
          <a:p>
            <a:r>
              <a:rPr lang="ru-RU" dirty="0"/>
              <a:t>Архитектура соответствует требованиям ФЗ-152 о защите персональных данных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D1CC9F-A08B-4855-A038-008F06257CDA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3/22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86301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254AE5-4C49-793F-E6F2-9CFEA3A60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AB45B11-023A-5E91-C879-41A1B312C9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Картинка: найти нормальную или удалить </a:t>
            </a:r>
          </a:p>
        </p:txBody>
      </p:sp>
    </p:spTree>
    <p:extLst>
      <p:ext uri="{BB962C8B-B14F-4D97-AF65-F5344CB8AC3E}">
        <p14:creationId xmlns:p14="http://schemas.microsoft.com/office/powerpoint/2010/main" val="3614981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8DEFDC-A437-4C47-B07D-6342E196D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Средства и технологии разработки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21D1AC-E48E-40DF-94EA-D6449A28C51C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4/22</a:t>
            </a:r>
            <a:endParaRPr lang="ru-RU" dirty="0"/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82F14302-1BF2-E1DF-19A8-0E74AB6A70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9663" y="2120804"/>
            <a:ext cx="3699318" cy="1381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icture background">
            <a:extLst>
              <a:ext uri="{FF2B5EF4-FFF2-40B4-BE49-F238E27FC236}">
                <a16:creationId xmlns:a16="http://schemas.microsoft.com/office/drawing/2014/main" id="{A339DE64-170F-3267-C6E5-0C47E9D936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47176" y="1445684"/>
            <a:ext cx="1871472" cy="1871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icture background">
            <a:extLst>
              <a:ext uri="{FF2B5EF4-FFF2-40B4-BE49-F238E27FC236}">
                <a16:creationId xmlns:a16="http://schemas.microsoft.com/office/drawing/2014/main" id="{28767BEC-E43E-ABAE-D052-1CD818E5D7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3382" y="3575536"/>
            <a:ext cx="2035466" cy="2100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icture background">
            <a:extLst>
              <a:ext uri="{FF2B5EF4-FFF2-40B4-BE49-F238E27FC236}">
                <a16:creationId xmlns:a16="http://schemas.microsoft.com/office/drawing/2014/main" id="{809F2891-D9F2-175C-53BA-BE3D9B2271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875" y="3575535"/>
            <a:ext cx="2100602" cy="2100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Picture background">
            <a:extLst>
              <a:ext uri="{FF2B5EF4-FFF2-40B4-BE49-F238E27FC236}">
                <a16:creationId xmlns:a16="http://schemas.microsoft.com/office/drawing/2014/main" id="{56A00DD1-6DEC-2ED3-2ECC-A70C200901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411" y="1328398"/>
            <a:ext cx="2278570" cy="2100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89823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69118"/>
            <a:ext cx="10515600" cy="58396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800" dirty="0"/>
              <a:t>Детекция лица:</a:t>
            </a:r>
          </a:p>
          <a:p>
            <a:r>
              <a:rPr lang="ru-RU" sz="1800" dirty="0"/>
              <a:t>Применяется каскадная архитектура MTCNN из трёх нейронных сетей</a:t>
            </a:r>
          </a:p>
          <a:p>
            <a:r>
              <a:rPr lang="ru-RU" sz="1800" dirty="0"/>
              <a:t>P-Net генерирует кандидаты, R-Net уточняет границы, O-Net определяет 5 ключевых точек</a:t>
            </a:r>
          </a:p>
          <a:p>
            <a:r>
              <a:rPr lang="ru-RU" sz="1800" dirty="0"/>
              <a:t>Выравнивание лица повышает точность последующей классификации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686E8C-5C6E-4C73-90BC-84349D9F5C1C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5/22</a:t>
            </a:r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955" y="-189056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Модуль анализа лица и эмоций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B00B286-9A87-B124-779F-59DF1D8877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33" y="2459336"/>
            <a:ext cx="10515600" cy="4119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8788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69118"/>
            <a:ext cx="10515600" cy="58396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800" dirty="0"/>
              <a:t>Классификация эмоций:</a:t>
            </a:r>
          </a:p>
          <a:p>
            <a:r>
              <a:rPr lang="ru-RU" sz="1800" dirty="0"/>
              <a:t>Используется библиотека </a:t>
            </a:r>
            <a:r>
              <a:rPr lang="ru-RU" sz="1800" dirty="0" err="1"/>
              <a:t>DeepFace</a:t>
            </a:r>
            <a:r>
              <a:rPr lang="ru-RU" sz="1800" dirty="0"/>
              <a:t> с </a:t>
            </a:r>
            <a:r>
              <a:rPr lang="ru-RU" sz="1800" dirty="0" err="1"/>
              <a:t>предобученными</a:t>
            </a:r>
            <a:r>
              <a:rPr lang="ru-RU" sz="1800" dirty="0"/>
              <a:t> моделями</a:t>
            </a:r>
          </a:p>
          <a:p>
            <a:r>
              <a:rPr lang="ru-RU" sz="1800" dirty="0"/>
              <a:t>VGG-Face: 16–19 </a:t>
            </a:r>
            <a:r>
              <a:rPr lang="ru-RU" sz="1800" dirty="0" err="1"/>
              <a:t>свёрточных</a:t>
            </a:r>
            <a:r>
              <a:rPr lang="ru-RU" sz="1800" dirty="0"/>
              <a:t> слоёв для глубокого извлечения признаков</a:t>
            </a:r>
          </a:p>
          <a:p>
            <a:r>
              <a:rPr lang="ru-RU" sz="1800" dirty="0" err="1"/>
              <a:t>EfficientNet</a:t>
            </a:r>
            <a:r>
              <a:rPr lang="ru-RU" sz="1800" dirty="0"/>
              <a:t>: оптимизированное соотношение точности и скорости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686E8C-5C6E-4C73-90BC-84349D9F5C1C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5/22</a:t>
            </a:r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955" y="-189056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Модуль анализа лица и эмоций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1DA179A-E911-4403-8C4E-5C33367F0B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838" y="2801492"/>
            <a:ext cx="10616717" cy="281496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0838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164" y="969118"/>
            <a:ext cx="4856924" cy="58396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800" dirty="0"/>
              <a:t>Назначение: Построение плотной сетки из 468 трёхмерных ключевых точек на лице</a:t>
            </a:r>
          </a:p>
          <a:p>
            <a:pPr marL="0" indent="0">
              <a:buNone/>
            </a:pPr>
            <a:r>
              <a:rPr lang="ru-RU" sz="1800" dirty="0"/>
              <a:t>Возможности:</a:t>
            </a:r>
          </a:p>
          <a:p>
            <a:r>
              <a:rPr lang="ru-RU" sz="1800" dirty="0"/>
              <a:t>Оценка </a:t>
            </a:r>
            <a:r>
              <a:rPr lang="ru-RU" sz="1800" dirty="0" err="1"/>
              <a:t>blendshape</a:t>
            </a:r>
            <a:r>
              <a:rPr lang="ru-RU" sz="1800" dirty="0"/>
              <a:t>-коэффициентов для анализа активности лицевых мышц</a:t>
            </a:r>
          </a:p>
          <a:p>
            <a:r>
              <a:rPr lang="ru-RU" sz="1800" dirty="0"/>
              <a:t>Вычисление углов поворота головы (</a:t>
            </a:r>
            <a:r>
              <a:rPr lang="ru-RU" sz="1800" dirty="0" err="1"/>
              <a:t>yaw</a:t>
            </a:r>
            <a:r>
              <a:rPr lang="ru-RU" sz="1800" dirty="0"/>
              <a:t>, </a:t>
            </a:r>
            <a:r>
              <a:rPr lang="ru-RU" sz="1800" dirty="0" err="1"/>
              <a:t>pitch</a:t>
            </a:r>
            <a:r>
              <a:rPr lang="ru-RU" sz="1800" dirty="0"/>
              <a:t>, </a:t>
            </a:r>
            <a:r>
              <a:rPr lang="ru-RU" sz="1800" dirty="0" err="1"/>
              <a:t>roll</a:t>
            </a:r>
            <a:r>
              <a:rPr lang="ru-RU" sz="1800" dirty="0"/>
              <a:t>)</a:t>
            </a:r>
          </a:p>
          <a:p>
            <a:r>
              <a:rPr lang="ru-RU" sz="1800" dirty="0"/>
              <a:t>Отслеживание </a:t>
            </a:r>
            <a:r>
              <a:rPr lang="ru-RU" sz="1800" dirty="0" err="1"/>
              <a:t>микровыражений</a:t>
            </a:r>
            <a:r>
              <a:rPr lang="ru-RU" sz="1800" dirty="0"/>
              <a:t> длительностью 1/25–1/5 секунды</a:t>
            </a:r>
          </a:p>
          <a:p>
            <a:pPr marL="0" indent="0">
              <a:buNone/>
            </a:pPr>
            <a:r>
              <a:rPr lang="ru-RU" sz="1800" dirty="0"/>
              <a:t>Архитектура: </a:t>
            </a:r>
            <a:r>
              <a:rPr lang="ru-RU" sz="1800" dirty="0" err="1"/>
              <a:t>Encoder-decoder</a:t>
            </a:r>
            <a:r>
              <a:rPr lang="ru-RU" sz="1800" dirty="0"/>
              <a:t> на базе трансформеров обеспечивает детальную 3D-модель лица</a:t>
            </a:r>
          </a:p>
          <a:p>
            <a:pPr marL="0" indent="0">
              <a:buNone/>
            </a:pPr>
            <a:r>
              <a:rPr lang="ru-RU" sz="1800" dirty="0"/>
              <a:t>Преимущества: Устойчивость к перекрытиям, различным ракурсам, работа в реальном времени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686E8C-5C6E-4C73-90BC-84349D9F5C1C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5/22</a:t>
            </a:r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955" y="-189056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Модель </a:t>
            </a:r>
            <a:r>
              <a:rPr lang="en-US" sz="4000" dirty="0" err="1"/>
              <a:t>MediaPipe</a:t>
            </a:r>
            <a:endParaRPr lang="ru-RU" sz="4000" dirty="0"/>
          </a:p>
        </p:txBody>
      </p:sp>
      <p:pic>
        <p:nvPicPr>
          <p:cNvPr id="7" name="Рисунок 6" descr="Задача &quot;Опорный знак на лице&quot;">
            <a:extLst>
              <a:ext uri="{FF2B5EF4-FFF2-40B4-BE49-F238E27FC236}">
                <a16:creationId xmlns:a16="http://schemas.microsoft.com/office/drawing/2014/main" id="{AC6A1973-8F20-E21C-8984-347E221109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2411" y="1429115"/>
            <a:ext cx="5940425" cy="325628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413781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339CDE-94C1-4EB4-9224-7DA92A274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Функции системы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EC388F7-4FCC-4EBE-9E97-E7A0CDF59B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ru-RU" dirty="0"/>
              <a:t>Анализ видеопотока:</a:t>
            </a:r>
          </a:p>
          <a:p>
            <a:r>
              <a:rPr lang="ru-RU" dirty="0"/>
              <a:t>Захват видео через браузерные API без плагинов</a:t>
            </a:r>
          </a:p>
          <a:p>
            <a:r>
              <a:rPr lang="ru-RU" dirty="0"/>
              <a:t>Детекция лиц и классификация эмоций в реальном времени</a:t>
            </a:r>
          </a:p>
          <a:p>
            <a:r>
              <a:rPr lang="ru-RU" dirty="0"/>
              <a:t>Отслеживание изменения эмоционального состояния в течение сессии</a:t>
            </a:r>
          </a:p>
          <a:p>
            <a:pPr marL="0" indent="0">
              <a:buNone/>
            </a:pPr>
            <a:r>
              <a:rPr lang="ru-RU" dirty="0"/>
              <a:t>Анализ аудиопотока:</a:t>
            </a:r>
          </a:p>
          <a:p>
            <a:r>
              <a:rPr lang="ru-RU" dirty="0"/>
              <a:t>Запись аудио с частотой 16 кГц</a:t>
            </a:r>
          </a:p>
          <a:p>
            <a:r>
              <a:rPr lang="ru-RU" dirty="0" err="1"/>
              <a:t>Транскрибация</a:t>
            </a:r>
            <a:r>
              <a:rPr lang="ru-RU" dirty="0"/>
              <a:t> речи и анализ голосовых характеристик</a:t>
            </a:r>
          </a:p>
          <a:p>
            <a:r>
              <a:rPr lang="ru-RU" dirty="0"/>
              <a:t>Определение эмоциональной окраски и выделение ключевых фраз</a:t>
            </a:r>
          </a:p>
          <a:p>
            <a:pPr marL="0" indent="0">
              <a:buNone/>
            </a:pPr>
            <a:r>
              <a:rPr lang="ru-RU" dirty="0"/>
              <a:t>Формирование отчётности:</a:t>
            </a:r>
          </a:p>
          <a:p>
            <a:r>
              <a:rPr lang="ru-RU" dirty="0"/>
              <a:t>Аналитический отчёт с распределением эмоций по времени</a:t>
            </a:r>
          </a:p>
          <a:p>
            <a:r>
              <a:rPr lang="ru-RU" dirty="0"/>
              <a:t>Карточки участников с индивидуальной статистикой</a:t>
            </a:r>
          </a:p>
          <a:p>
            <a:r>
              <a:rPr lang="ru-RU" dirty="0"/>
              <a:t>Экспорт результатов в форматах JSON и PDF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E45F7B-423C-432A-AB30-10FB23DEFF5A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7/22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43957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5598A4-2CEB-4A01-98CC-B4D5443A0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987"/>
            <a:ext cx="10515600" cy="1325563"/>
          </a:xfrm>
        </p:spPr>
        <p:txBody>
          <a:bodyPr/>
          <a:lstStyle/>
          <a:p>
            <a:r>
              <a:rPr lang="ru-RU" dirty="0"/>
              <a:t>Модуль распознавания речи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F58553F-6F10-47A7-90AD-8A548C4AE4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00831"/>
            <a:ext cx="10515600" cy="559293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Модель </a:t>
            </a:r>
            <a:r>
              <a:rPr lang="ru-RU" dirty="0" err="1"/>
              <a:t>Whisper</a:t>
            </a:r>
            <a:r>
              <a:rPr lang="ru-RU" dirty="0"/>
              <a:t> (OpenAI):</a:t>
            </a:r>
          </a:p>
          <a:p>
            <a:r>
              <a:rPr lang="ru-RU" dirty="0" err="1"/>
              <a:t>Encoder-decoder</a:t>
            </a:r>
            <a:r>
              <a:rPr lang="ru-RU" dirty="0"/>
              <a:t> трансформер, обученный на 680 000 часов аудиоданных</a:t>
            </a:r>
          </a:p>
          <a:p>
            <a:r>
              <a:rPr lang="ru-RU" dirty="0"/>
              <a:t>Поддержка 99 языков, устойчивость к акцентам и шуму</a:t>
            </a:r>
          </a:p>
          <a:p>
            <a:pPr marL="0" indent="0">
              <a:buNone/>
            </a:pPr>
            <a:r>
              <a:rPr lang="ru-RU" dirty="0"/>
              <a:t>Архитектура обработки:</a:t>
            </a:r>
          </a:p>
          <a:p>
            <a:r>
              <a:rPr lang="ru-RU" dirty="0"/>
              <a:t>Предобработка: аудиосигнал 16 кГц преобразуется в мел-спектрограмму (80 каналов)</a:t>
            </a:r>
          </a:p>
          <a:p>
            <a:r>
              <a:rPr lang="ru-RU" dirty="0" err="1"/>
              <a:t>Энкодер</a:t>
            </a:r>
            <a:r>
              <a:rPr lang="ru-RU" dirty="0"/>
              <a:t> извлекает контекстуальные признаки через механизм </a:t>
            </a:r>
            <a:r>
              <a:rPr lang="ru-RU" dirty="0" err="1"/>
              <a:t>самовнимания</a:t>
            </a:r>
            <a:endParaRPr lang="ru-RU" dirty="0"/>
          </a:p>
          <a:p>
            <a:r>
              <a:rPr lang="ru-RU" dirty="0"/>
              <a:t>Декодер генерирует текстовые токены </a:t>
            </a:r>
            <a:r>
              <a:rPr lang="ru-RU" dirty="0" err="1"/>
              <a:t>авторегрессионно</a:t>
            </a:r>
            <a:r>
              <a:rPr lang="ru-RU" dirty="0"/>
              <a:t> с учётом кросс-внимания</a:t>
            </a:r>
          </a:p>
          <a:p>
            <a:r>
              <a:rPr lang="ru-RU" dirty="0"/>
              <a:t>Оптимизация: Библиотека </a:t>
            </a:r>
            <a:r>
              <a:rPr lang="ru-RU" dirty="0" err="1"/>
              <a:t>faster-whisper</a:t>
            </a:r>
            <a:r>
              <a:rPr lang="ru-RU" dirty="0"/>
              <a:t> с квантованием весов, пакетной обработкой и поддержкой GPU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6811B9-633B-4D7E-9477-717C2159737D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6/22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124524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5598A4-2CEB-4A01-98CC-B4D5443A0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987"/>
            <a:ext cx="10515600" cy="1325563"/>
          </a:xfrm>
        </p:spPr>
        <p:txBody>
          <a:bodyPr/>
          <a:lstStyle/>
          <a:p>
            <a:r>
              <a:rPr lang="ru-RU" dirty="0"/>
              <a:t>Модуль распознавания речи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6811B9-633B-4D7E-9477-717C2159737D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6/22</a:t>
            </a:r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38D79AC-165D-FB25-7588-89E4A91E88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411550"/>
            <a:ext cx="10511501" cy="4724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2304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BAAD23-B9AF-47EB-97C4-C8F7C4786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Средство разработки пользовательского интерфейса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A95FAD0-980E-4610-98D5-906FF259B0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ru-RU" dirty="0"/>
              <a:t>Технологии: </a:t>
            </a:r>
            <a:r>
              <a:rPr lang="ru-RU" dirty="0" err="1"/>
              <a:t>React</a:t>
            </a:r>
            <a:r>
              <a:rPr lang="ru-RU" dirty="0"/>
              <a:t> 18 + </a:t>
            </a:r>
            <a:r>
              <a:rPr lang="ru-RU" dirty="0" err="1"/>
              <a:t>TypeScript</a:t>
            </a:r>
            <a:r>
              <a:rPr lang="ru-RU" dirty="0"/>
              <a:t> + </a:t>
            </a:r>
            <a:r>
              <a:rPr lang="ru-RU" dirty="0" err="1"/>
              <a:t>Vite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Архитектура:</a:t>
            </a:r>
          </a:p>
          <a:p>
            <a:r>
              <a:rPr lang="ru-RU" dirty="0"/>
              <a:t>Компонентный подход с </a:t>
            </a:r>
            <a:r>
              <a:rPr lang="ru-RU" dirty="0" err="1"/>
              <a:t>переиспользуемыми</a:t>
            </a:r>
            <a:r>
              <a:rPr lang="ru-RU" dirty="0"/>
              <a:t> элементами интерфейса</a:t>
            </a:r>
          </a:p>
          <a:p>
            <a:r>
              <a:rPr lang="ru-RU" dirty="0"/>
              <a:t>Virtual DOM обеспечивает минимизацию перерисовок</a:t>
            </a:r>
          </a:p>
          <a:p>
            <a:r>
              <a:rPr lang="ru-RU" dirty="0" err="1"/>
              <a:t>WebSocket</a:t>
            </a:r>
            <a:r>
              <a:rPr lang="ru-RU" dirty="0"/>
              <a:t> для автоматического обновления данных в реальном времени</a:t>
            </a:r>
          </a:p>
          <a:p>
            <a:pPr marL="0" indent="0">
              <a:buNone/>
            </a:pPr>
            <a:r>
              <a:rPr lang="ru-RU" dirty="0"/>
              <a:t>Управление состоянием:</a:t>
            </a:r>
          </a:p>
          <a:p>
            <a:r>
              <a:rPr lang="ru-RU" dirty="0"/>
              <a:t>Глобальное серверное состояние кэшируется специализированной библиотекой запросов</a:t>
            </a:r>
          </a:p>
          <a:p>
            <a:r>
              <a:rPr lang="ru-RU" dirty="0"/>
              <a:t>Локальное состояние встречи управляется через легковесное хранилище</a:t>
            </a:r>
          </a:p>
          <a:p>
            <a:r>
              <a:rPr lang="ru-RU" dirty="0"/>
              <a:t>Адаптивность: Интерфейс корректно отображается на десктопах, планшетах и мобильных устройствах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D9155A-5477-428A-B594-4DE38D5D9805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9/22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69136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4A4237-7384-4D65-B40A-9F7802E2C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Информационное обеспечение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3513E5-CE54-4AB7-8986-EBEFE16031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Определение: Совокупность системно-ориентированных данных, описывающих словарь базовых описаний и актуализируемых данных о состоянии информационной модели.</a:t>
            </a:r>
          </a:p>
          <a:p>
            <a:pPr marL="0" indent="0">
              <a:buNone/>
            </a:pPr>
            <a:r>
              <a:rPr lang="ru-RU" dirty="0"/>
              <a:t>Входные данные:</a:t>
            </a:r>
          </a:p>
          <a:p>
            <a:r>
              <a:rPr lang="ru-RU" dirty="0"/>
              <a:t>Видеопоток: 640×480+, 15–30 кадров/с, формат JPEG через </a:t>
            </a:r>
            <a:r>
              <a:rPr lang="ru-RU" dirty="0" err="1"/>
              <a:t>WebSocket</a:t>
            </a:r>
            <a:endParaRPr lang="ru-RU" dirty="0"/>
          </a:p>
          <a:p>
            <a:r>
              <a:rPr lang="ru-RU" dirty="0"/>
              <a:t>Аудиопоток: 16 кГц, моно, формат </a:t>
            </a:r>
            <a:r>
              <a:rPr lang="ru-RU" dirty="0" err="1"/>
              <a:t>WebM</a:t>
            </a:r>
            <a:r>
              <a:rPr lang="ru-RU" dirty="0"/>
              <a:t>/Opus</a:t>
            </a:r>
          </a:p>
          <a:p>
            <a:pPr marL="0" indent="0">
              <a:buNone/>
            </a:pPr>
            <a:r>
              <a:rPr lang="ru-RU" dirty="0"/>
              <a:t>Обучающие датасеты:</a:t>
            </a:r>
          </a:p>
          <a:p>
            <a:r>
              <a:rPr lang="ru-RU" dirty="0"/>
              <a:t>Для эмоций: FER-2013 (35 000 изображений), </a:t>
            </a:r>
            <a:r>
              <a:rPr lang="ru-RU" dirty="0" err="1"/>
              <a:t>AffectNet</a:t>
            </a:r>
            <a:r>
              <a:rPr lang="ru-RU" dirty="0"/>
              <a:t> (1 000 000+), RAF-DB</a:t>
            </a:r>
          </a:p>
          <a:p>
            <a:r>
              <a:rPr lang="ru-RU" dirty="0"/>
              <a:t>Для речи: </a:t>
            </a:r>
            <a:r>
              <a:rPr lang="ru-RU" dirty="0" err="1"/>
              <a:t>LibriSpeech</a:t>
            </a:r>
            <a:r>
              <a:rPr lang="ru-RU" dirty="0"/>
              <a:t> (1000 часов), Common Voice (многоязычный)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50098F-7052-48E4-A34F-402D8BB81F7F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11/22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876535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E47E73-D877-4497-A30F-9D6C2A470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ru-RU" dirty="0"/>
              <a:t>Пример обработки видеопотока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EC84FC0-D965-4180-9E61-13CDF03E77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904" y="1038686"/>
            <a:ext cx="11558016" cy="581931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Захват и передача:</a:t>
            </a:r>
          </a:p>
          <a:p>
            <a:r>
              <a:rPr lang="ru-RU" dirty="0"/>
              <a:t>Клиент извлекает кадры через </a:t>
            </a:r>
            <a:r>
              <a:rPr lang="ru-RU" dirty="0" err="1"/>
              <a:t>canvas</a:t>
            </a:r>
            <a:r>
              <a:rPr lang="ru-RU" dirty="0"/>
              <a:t> с интервалом 200–500 мс</a:t>
            </a:r>
          </a:p>
          <a:p>
            <a:r>
              <a:rPr lang="ru-RU" dirty="0"/>
              <a:t>Изображение конвертируется в JPEG Base64 и передаётся через </a:t>
            </a:r>
            <a:r>
              <a:rPr lang="ru-RU" dirty="0" err="1"/>
              <a:t>WebSocket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Детекция на сервере:</a:t>
            </a:r>
          </a:p>
          <a:p>
            <a:r>
              <a:rPr lang="ru-RU" dirty="0"/>
              <a:t>AI-шлюз декодирует изображение и передаёт в модуль MTCNN</a:t>
            </a:r>
          </a:p>
          <a:p>
            <a:r>
              <a:rPr lang="ru-RU" dirty="0"/>
              <a:t>Каскадная сеть последовательно обрабатывает кадр через P-Net, R-Net, O-Net</a:t>
            </a:r>
          </a:p>
          <a:p>
            <a:r>
              <a:rPr lang="ru-RU" dirty="0"/>
              <a:t>Определяются 5 ключевых точек для выравнивания лица</a:t>
            </a:r>
          </a:p>
          <a:p>
            <a:pPr marL="0" indent="0">
              <a:buNone/>
            </a:pPr>
            <a:r>
              <a:rPr lang="ru-RU" dirty="0"/>
              <a:t>Классификация:</a:t>
            </a:r>
          </a:p>
          <a:p>
            <a:r>
              <a:rPr lang="ru-RU" dirty="0"/>
              <a:t>Выровненное изображение подаётся на вход модели </a:t>
            </a:r>
            <a:r>
              <a:rPr lang="ru-RU" dirty="0" err="1"/>
              <a:t>DeepFace</a:t>
            </a:r>
            <a:endParaRPr lang="ru-RU" dirty="0"/>
          </a:p>
          <a:p>
            <a:r>
              <a:rPr lang="ru-RU" dirty="0"/>
              <a:t>Возвращаются вероятности принадлежности к 6 базовым эмоциям и нейтральному состоянию</a:t>
            </a:r>
          </a:p>
          <a:p>
            <a:r>
              <a:rPr lang="ru-RU" dirty="0"/>
              <a:t>Сохранение: Результаты записываются в </a:t>
            </a:r>
            <a:r>
              <a:rPr lang="ru-RU" dirty="0" err="1"/>
              <a:t>PostgreSQL</a:t>
            </a:r>
            <a:r>
              <a:rPr lang="ru-RU" dirty="0"/>
              <a:t> и транслируются клиентам в реальном времени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56DD11-6E19-4DE8-AAA6-BECB7A79B558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  <a:r>
              <a:rPr lang="ru-RU" dirty="0"/>
              <a:t>2</a:t>
            </a:r>
            <a:r>
              <a:rPr lang="en-US" dirty="0"/>
              <a:t>/22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386472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D815F8-363A-4FDD-BF3E-513F73DA6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обработки аудиопотока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EBD09E6-48D2-4C1B-A424-71AEB12D0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 algn="just">
              <a:buNone/>
            </a:pPr>
            <a:r>
              <a:rPr lang="ru-RU" dirty="0"/>
              <a:t>Захват и буферизация:</a:t>
            </a:r>
          </a:p>
          <a:p>
            <a:pPr algn="just"/>
            <a:r>
              <a:rPr lang="ru-RU" dirty="0"/>
              <a:t>Клиент записывает аудио через </a:t>
            </a:r>
            <a:r>
              <a:rPr lang="ru-RU" dirty="0" err="1"/>
              <a:t>MediaRecorder</a:t>
            </a:r>
            <a:r>
              <a:rPr lang="ru-RU" dirty="0"/>
              <a:t> API</a:t>
            </a:r>
          </a:p>
          <a:p>
            <a:pPr algn="just"/>
            <a:r>
              <a:rPr lang="ru-RU" dirty="0"/>
              <a:t>Стратегия кумулятивного накопления </a:t>
            </a:r>
            <a:r>
              <a:rPr lang="ru-RU" dirty="0" err="1"/>
              <a:t>чанков</a:t>
            </a:r>
            <a:r>
              <a:rPr lang="ru-RU" dirty="0"/>
              <a:t> обеспечивает непрерывность потока</a:t>
            </a:r>
          </a:p>
          <a:p>
            <a:pPr marL="0" indent="0" algn="just">
              <a:buNone/>
            </a:pPr>
            <a:r>
              <a:rPr lang="ru-RU" dirty="0"/>
              <a:t>Кодирование:</a:t>
            </a:r>
          </a:p>
          <a:p>
            <a:pPr algn="just"/>
            <a:r>
              <a:rPr lang="ru-RU" dirty="0"/>
              <a:t>Буфер кодируется в Base64 и отправляется с интервалом 1–2 секунды</a:t>
            </a:r>
          </a:p>
          <a:p>
            <a:pPr algn="just"/>
            <a:r>
              <a:rPr lang="ru-RU" dirty="0"/>
              <a:t>Предотвращается потеря начальных фрагментов речи</a:t>
            </a:r>
          </a:p>
          <a:p>
            <a:pPr marL="0" indent="0" algn="just">
              <a:buNone/>
            </a:pPr>
            <a:r>
              <a:rPr lang="ru-RU" dirty="0"/>
              <a:t>Распознавание:</a:t>
            </a:r>
          </a:p>
          <a:p>
            <a:pPr algn="just"/>
            <a:r>
              <a:rPr lang="ru-RU" dirty="0"/>
              <a:t>Сервер декодирует </a:t>
            </a:r>
            <a:r>
              <a:rPr lang="ru-RU" dirty="0" err="1"/>
              <a:t>WebM</a:t>
            </a:r>
            <a:r>
              <a:rPr lang="ru-RU" dirty="0"/>
              <a:t>/Opus в PCM 16 кГц</a:t>
            </a:r>
          </a:p>
          <a:p>
            <a:pPr algn="just"/>
            <a:r>
              <a:rPr lang="ru-RU" dirty="0"/>
              <a:t>Выполняется нормализация громкости и фильтрация шумов</a:t>
            </a:r>
          </a:p>
          <a:p>
            <a:pPr algn="just"/>
            <a:r>
              <a:rPr lang="ru-RU" dirty="0"/>
              <a:t>Сигнал передаётся в </a:t>
            </a:r>
            <a:r>
              <a:rPr lang="ru-RU" dirty="0" err="1"/>
              <a:t>faster-whisper</a:t>
            </a:r>
            <a:r>
              <a:rPr lang="ru-RU" dirty="0"/>
              <a:t> для </a:t>
            </a:r>
            <a:r>
              <a:rPr lang="ru-RU" dirty="0" err="1"/>
              <a:t>транскрибации</a:t>
            </a:r>
            <a:endParaRPr lang="ru-RU" dirty="0"/>
          </a:p>
          <a:p>
            <a:pPr marL="0" indent="0" algn="just">
              <a:buNone/>
            </a:pPr>
            <a:r>
              <a:rPr lang="ru-RU" dirty="0"/>
              <a:t>Возврат результатов:</a:t>
            </a:r>
          </a:p>
          <a:p>
            <a:pPr algn="just"/>
            <a:r>
              <a:rPr lang="ru-RU" dirty="0"/>
              <a:t>Сервис возвращает частичный и финальный тексты с метаданными</a:t>
            </a:r>
          </a:p>
          <a:p>
            <a:pPr algn="just"/>
            <a:r>
              <a:rPr lang="ru-RU" dirty="0"/>
              <a:t>Результаты сохраняются в БД и транслируются для отображения в интерфейсе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401ADA-F907-446F-A529-8B6A4967B58D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13/22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471748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1BFD6B-99D2-42D5-806B-5AF98D601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56" y="255273"/>
            <a:ext cx="4905652" cy="1496735"/>
          </a:xfrm>
        </p:spPr>
        <p:txBody>
          <a:bodyPr>
            <a:normAutofit/>
          </a:bodyPr>
          <a:lstStyle/>
          <a:p>
            <a:r>
              <a:rPr lang="ru-RU" dirty="0"/>
              <a:t>Алгоритм работы системы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1068E4-64AA-4881-9003-243658ECFBBE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14/22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830C30-DFFB-B5DE-EE03-CA29D77B4CCF}"/>
              </a:ext>
            </a:extLst>
          </p:cNvPr>
          <p:cNvSpPr txBox="1"/>
          <p:nvPr/>
        </p:nvSpPr>
        <p:spPr>
          <a:xfrm>
            <a:off x="5397246" y="546622"/>
            <a:ext cx="6094476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+mj-lt"/>
              <a:buAutoNum type="arabicPeriod"/>
            </a:pPr>
            <a:r>
              <a:rPr lang="ru-RU" dirty="0"/>
              <a:t>Аутентификация: Пользователь вводит учётные данные, сервер проверяет </a:t>
            </a:r>
            <a:r>
              <a:rPr lang="ru-RU" dirty="0" err="1"/>
              <a:t>хеш</a:t>
            </a:r>
            <a:r>
              <a:rPr lang="ru-RU" dirty="0"/>
              <a:t> пароля </a:t>
            </a:r>
            <a:r>
              <a:rPr lang="ru-RU" dirty="0" err="1"/>
              <a:t>bcrypt</a:t>
            </a:r>
            <a:r>
              <a:rPr lang="ru-RU" dirty="0"/>
              <a:t>, выдаёт JWT-токен доступа и токен обновления</a:t>
            </a:r>
          </a:p>
          <a:p>
            <a:pPr algn="l">
              <a:buFont typeface="+mj-lt"/>
              <a:buAutoNum type="arabicPeriod"/>
            </a:pPr>
            <a:r>
              <a:rPr lang="ru-RU" dirty="0"/>
              <a:t>Создание сессии: Пользователь создаёт встречу или присоединяется по ссылке, сервер регистрирует сессию и инициализирует </a:t>
            </a:r>
            <a:r>
              <a:rPr lang="ru-RU" dirty="0" err="1"/>
              <a:t>WebSocket</a:t>
            </a:r>
            <a:r>
              <a:rPr lang="ru-RU" dirty="0"/>
              <a:t>-хаб</a:t>
            </a:r>
          </a:p>
          <a:p>
            <a:pPr algn="l">
              <a:buFont typeface="+mj-lt"/>
              <a:buAutoNum type="arabicPeriod"/>
            </a:pPr>
            <a:r>
              <a:rPr lang="ru-RU" dirty="0"/>
              <a:t>Захват медиа: Клиент запрашивает доступ к камере и микрофону, запускает компоненты захвата с адаптивной частотой отправки</a:t>
            </a:r>
          </a:p>
          <a:p>
            <a:pPr algn="l">
              <a:buFont typeface="+mj-lt"/>
              <a:buAutoNum type="arabicPeriod"/>
            </a:pPr>
            <a:r>
              <a:rPr lang="ru-RU" dirty="0"/>
              <a:t>Параллельная обработка: AI-шлюз одновременно анализирует видеопоток (детекция + классификация) и аудиопоток (</a:t>
            </a:r>
            <a:r>
              <a:rPr lang="ru-RU" dirty="0" err="1"/>
              <a:t>транскрибация</a:t>
            </a:r>
            <a:r>
              <a:rPr lang="ru-RU" dirty="0"/>
              <a:t> + анализ тона)</a:t>
            </a:r>
          </a:p>
          <a:p>
            <a:pPr algn="l">
              <a:buFont typeface="+mj-lt"/>
              <a:buAutoNum type="arabicPeriod"/>
            </a:pPr>
            <a:r>
              <a:rPr lang="ru-RU" dirty="0"/>
              <a:t>Агрегация: Результаты записываются в </a:t>
            </a:r>
            <a:r>
              <a:rPr lang="ru-RU" dirty="0" err="1"/>
              <a:t>PostgreSQL</a:t>
            </a:r>
            <a:r>
              <a:rPr lang="ru-RU" dirty="0"/>
              <a:t> с временными метками и транслируются клиентам</a:t>
            </a:r>
          </a:p>
          <a:p>
            <a:pPr algn="l">
              <a:buFont typeface="+mj-lt"/>
              <a:buAutoNum type="arabicPeriod"/>
            </a:pPr>
            <a:r>
              <a:rPr lang="ru-RU" dirty="0"/>
              <a:t>Формирование отчёта: При завершении встречи применяется </a:t>
            </a:r>
            <a:r>
              <a:rPr lang="ru-RU" dirty="0" err="1"/>
              <a:t>late</a:t>
            </a:r>
            <a:r>
              <a:rPr lang="ru-RU" dirty="0"/>
              <a:t> </a:t>
            </a:r>
            <a:r>
              <a:rPr lang="ru-RU" dirty="0" err="1"/>
              <a:t>fusion</a:t>
            </a:r>
            <a:r>
              <a:rPr lang="ru-RU" dirty="0"/>
              <a:t> для объединения статистики, формируется структурированный отчёт</a:t>
            </a:r>
            <a:br>
              <a:rPr lang="ru-RU" dirty="0"/>
            </a:br>
            <a:br>
              <a:rPr lang="ru-RU" dirty="0"/>
            </a:br>
            <a:r>
              <a:rPr lang="ru-RU" dirty="0"/>
              <a:t>Картинка: Блок-схема алгоритма (draw.io)</a:t>
            </a:r>
          </a:p>
        </p:txBody>
      </p:sp>
    </p:spTree>
    <p:extLst>
      <p:ext uri="{BB962C8B-B14F-4D97-AF65-F5344CB8AC3E}">
        <p14:creationId xmlns:p14="http://schemas.microsoft.com/office/powerpoint/2010/main" val="42546253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BED1AB-11C4-48F5-BF70-1ACBA146FC6C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15/22</a:t>
            </a:r>
            <a:endParaRPr lang="ru-RU" dirty="0"/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C7FE94C1-7119-09AA-1780-C0215FA1FB94}"/>
              </a:ext>
            </a:extLst>
          </p:cNvPr>
          <p:cNvSpPr txBox="1">
            <a:spLocks/>
          </p:cNvSpPr>
          <p:nvPr/>
        </p:nvSpPr>
        <p:spPr>
          <a:xfrm>
            <a:off x="204770" y="146304"/>
            <a:ext cx="8280862" cy="8085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200" dirty="0"/>
              <a:t>Интерфейс системы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A240AF3-3AA3-3709-E167-D4F5A9CA4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770" y="1467369"/>
            <a:ext cx="9635940" cy="4924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5624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23B7ED-CC57-49E9-84A2-D9248AB69B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475" y="105052"/>
            <a:ext cx="4204317" cy="2176509"/>
          </a:xfrm>
        </p:spPr>
        <p:txBody>
          <a:bodyPr>
            <a:normAutofit/>
          </a:bodyPr>
          <a:lstStyle/>
          <a:p>
            <a:r>
              <a:rPr lang="ru-RU" sz="3600" dirty="0"/>
              <a:t>Пример аналитического отчёта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95F111-5EAD-4700-80E6-067F170BC9FE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16/22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4F11B4-836D-A570-EF85-38D41BD9C562}"/>
              </a:ext>
            </a:extLst>
          </p:cNvPr>
          <p:cNvSpPr txBox="1"/>
          <p:nvPr/>
        </p:nvSpPr>
        <p:spPr>
          <a:xfrm>
            <a:off x="2978658" y="2690336"/>
            <a:ext cx="614019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dirty="0"/>
              <a:t>Сводка по встрече: распределение эмоций, активность, ключевые фразы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dirty="0"/>
              <a:t>Карточки участников с индивидуальной статистикой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dirty="0" err="1"/>
              <a:t>Таймлайны</a:t>
            </a:r>
            <a:r>
              <a:rPr lang="ru-RU" dirty="0"/>
              <a:t> изменения эмоций</a:t>
            </a:r>
          </a:p>
          <a:p>
            <a:pPr algn="l"/>
            <a:r>
              <a:rPr lang="ru-RU" dirty="0"/>
              <a:t>Картинка: Скриншот примера отчёта (если есть в проекте)</a:t>
            </a:r>
          </a:p>
        </p:txBody>
      </p:sp>
    </p:spTree>
    <p:extLst>
      <p:ext uri="{BB962C8B-B14F-4D97-AF65-F5344CB8AC3E}">
        <p14:creationId xmlns:p14="http://schemas.microsoft.com/office/powerpoint/2010/main" val="1412436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A3F0CB6-C78C-4805-AEBB-AFF9D10A5577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18/22</a:t>
            </a:r>
            <a:endParaRPr lang="ru-RU" dirty="0"/>
          </a:p>
        </p:txBody>
      </p:sp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6603485B-22FC-0A97-1718-C889CAEE5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работы модуля детекции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CE1EB7-33D9-2E65-0BC0-90F903F3C93E}"/>
              </a:ext>
            </a:extLst>
          </p:cNvPr>
          <p:cNvSpPr txBox="1"/>
          <p:nvPr/>
        </p:nvSpPr>
        <p:spPr>
          <a:xfrm>
            <a:off x="3047238" y="2967335"/>
            <a:ext cx="609447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До/после: исходный кадр → кадр с </a:t>
            </a:r>
            <a:r>
              <a:rPr lang="ru-RU" dirty="0" err="1"/>
              <a:t>bounding</a:t>
            </a:r>
            <a:r>
              <a:rPr lang="ru-RU" dirty="0"/>
              <a:t> </a:t>
            </a:r>
            <a:r>
              <a:rPr lang="ru-RU" dirty="0" err="1"/>
              <a:t>box</a:t>
            </a:r>
            <a:r>
              <a:rPr lang="ru-RU" dirty="0"/>
              <a:t> и эмоцией</a:t>
            </a:r>
          </a:p>
          <a:p>
            <a:r>
              <a:rPr lang="ru-RU" dirty="0"/>
              <a:t>Картинка: Сравнительный скриншот (можно сделать скрин из работающей системы)</a:t>
            </a:r>
          </a:p>
        </p:txBody>
      </p:sp>
    </p:spTree>
    <p:extLst>
      <p:ext uri="{BB962C8B-B14F-4D97-AF65-F5344CB8AC3E}">
        <p14:creationId xmlns:p14="http://schemas.microsoft.com/office/powerpoint/2010/main" val="28340052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D3ACA76-DC55-4EE2-B96E-8C8DD92607FB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19/22</a:t>
            </a:r>
            <a:endParaRPr lang="ru-RU" dirty="0"/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1D64F9D4-50F5-E5DE-1F6D-A6CCD663D908}"/>
              </a:ext>
            </a:extLst>
          </p:cNvPr>
          <p:cNvSpPr txBox="1">
            <a:spLocks/>
          </p:cNvSpPr>
          <p:nvPr/>
        </p:nvSpPr>
        <p:spPr>
          <a:xfrm>
            <a:off x="163498" y="-13202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/>
              <a:t>Пример работы модуля распознавания речи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3D4684-574A-EA26-898C-4CBE180E21B9}"/>
              </a:ext>
            </a:extLst>
          </p:cNvPr>
          <p:cNvSpPr txBox="1"/>
          <p:nvPr/>
        </p:nvSpPr>
        <p:spPr>
          <a:xfrm>
            <a:off x="3026664" y="2903327"/>
            <a:ext cx="61081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Аудиоволна</a:t>
            </a:r>
            <a:r>
              <a:rPr lang="ru-RU" dirty="0"/>
              <a:t> → текст → выделение эмоциональных маркеров</a:t>
            </a:r>
          </a:p>
          <a:p>
            <a:r>
              <a:rPr lang="ru-RU" dirty="0"/>
              <a:t>Картинка: Скриншот транскрипта с разметкой эмоций</a:t>
            </a:r>
          </a:p>
        </p:txBody>
      </p:sp>
    </p:spTree>
    <p:extLst>
      <p:ext uri="{BB962C8B-B14F-4D97-AF65-F5344CB8AC3E}">
        <p14:creationId xmlns:p14="http://schemas.microsoft.com/office/powerpoint/2010/main" val="12302992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4679AE-9695-41ED-964A-F63B6DC86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DA6D676-1DC8-4A9C-81A7-79527C288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7162"/>
            <a:ext cx="10515600" cy="5308846"/>
          </a:xfrm>
        </p:spPr>
        <p:txBody>
          <a:bodyPr>
            <a:normAutofit/>
          </a:bodyPr>
          <a:lstStyle/>
          <a:p>
            <a:r>
              <a:rPr lang="ru-RU" dirty="0"/>
              <a:t>Цель и задачи выполнены</a:t>
            </a:r>
          </a:p>
          <a:p>
            <a:r>
              <a:rPr lang="ru-RU" dirty="0"/>
              <a:t>Реализована мультимодальная система анализа эмоций</a:t>
            </a:r>
          </a:p>
          <a:p>
            <a:r>
              <a:rPr lang="ru-RU" dirty="0"/>
              <a:t>Протестированы ключевые модули (детекция, ASR, отчётность)</a:t>
            </a:r>
          </a:p>
          <a:p>
            <a:r>
              <a:rPr lang="ru-RU" dirty="0"/>
              <a:t>Система готова к внедрению в HR-процессы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E0758E-ED01-4E2A-9F8C-4C0573556692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2</a:t>
            </a:r>
            <a:r>
              <a:rPr lang="en-US" dirty="0"/>
              <a:t>2/22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8682195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993</Words>
  <Application>Microsoft Office PowerPoint</Application>
  <PresentationFormat>Широкоэкранный</PresentationFormat>
  <Paragraphs>151</Paragraphs>
  <Slides>21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5" baseType="lpstr">
      <vt:lpstr>Arial</vt:lpstr>
      <vt:lpstr>Calibri</vt:lpstr>
      <vt:lpstr>Calibri Light</vt:lpstr>
      <vt:lpstr>Тема Office</vt:lpstr>
      <vt:lpstr>ПРОИЗВОДСТВЕННАЯ ПРАКТИКА, ПРЕДДИПЛОМНАЯ ПРАКТИКА </vt:lpstr>
      <vt:lpstr>Цель и задачи практики</vt:lpstr>
      <vt:lpstr>Актуальность</vt:lpstr>
      <vt:lpstr>Актуальность</vt:lpstr>
      <vt:lpstr>Средства и технологии разработки</vt:lpstr>
      <vt:lpstr>Модуль анализа лица и эмоций</vt:lpstr>
      <vt:lpstr>Модуль анализа лица и эмоций</vt:lpstr>
      <vt:lpstr>Модель MediaPipe</vt:lpstr>
      <vt:lpstr>Функции системы</vt:lpstr>
      <vt:lpstr>Модуль распознавания речи</vt:lpstr>
      <vt:lpstr>Модуль распознавания речи</vt:lpstr>
      <vt:lpstr>Средство разработки пользовательского интерфейса</vt:lpstr>
      <vt:lpstr>Информационное обеспечение</vt:lpstr>
      <vt:lpstr>Пример обработки видеопотока</vt:lpstr>
      <vt:lpstr>Пример обработки аудиопотока</vt:lpstr>
      <vt:lpstr>Алгоритм работы системы</vt:lpstr>
      <vt:lpstr>Презентация PowerPoint</vt:lpstr>
      <vt:lpstr>Пример аналитического отчёта</vt:lpstr>
      <vt:lpstr>Пример работы модуля детекции</vt:lpstr>
      <vt:lpstr>Презентация PowerPoint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ПРОИЗВОДСТВЕННАЯ ПРАКТИКА, ПРЕДДИПЛОМНАЯ ПРАКТИКА </dc:title>
  <dc:creator>Роман Чирко</dc:creator>
  <cp:lastModifiedBy>Виталий Демьянцев</cp:lastModifiedBy>
  <cp:revision>99</cp:revision>
  <dcterms:created xsi:type="dcterms:W3CDTF">2024-05-28T15:56:43Z</dcterms:created>
  <dcterms:modified xsi:type="dcterms:W3CDTF">2026-05-19T09:23:40Z</dcterms:modified>
</cp:coreProperties>
</file>