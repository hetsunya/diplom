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2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4" r:id="rId17"/>
    <p:sldId id="276" r:id="rId18"/>
    <p:sldId id="277" r:id="rId19"/>
    <p:sldId id="280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63F25-8401-4050-B9C0-1864FD91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158BF0-F39C-48A3-8E8A-C22EF5572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15F282-4ED1-4FED-82A5-D48D19717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EB9DB-94B2-4D97-AB29-D096994DA229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A805AD-E84B-485F-BE45-31A48BA7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ПРАКТИКА, ПРЕДДИПЛОМНАЯ ПРАКТИКА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Научный руководитель: старший преподаватель </a:t>
            </a:r>
            <a:r>
              <a:rPr lang="ru-RU" dirty="0" err="1"/>
              <a:t>каф.АСОИУ</a:t>
            </a:r>
            <a:r>
              <a:rPr lang="ru-RU" dirty="0"/>
              <a:t> Горбунов Д.В.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2646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Цель: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программную часть системы распознавания эмоций человека на основе ИНС с использованием методов компьютерного зрения и глубокого обучения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Задачи: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Изучить предметную область и современные методы распознавания эмоций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архитектуру системы и схему взаимодействия модулей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Реализовать модуль предобработки видеоданных и детекции лица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и обучить модель ИНС для классификации эмоций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Реализовать модуль взаимодействия с БД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Разработать пользовательский интерфейс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Провести тестирование системы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D8360-FA0F-440D-8156-2BF331DE0269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Рост значимости эмоционального интеллекта в HR</a:t>
            </a:r>
          </a:p>
          <a:p>
            <a:pPr marL="0" indent="0">
              <a:buNone/>
            </a:pPr>
            <a:r>
              <a:rPr lang="ru-RU" dirty="0"/>
              <a:t>Традиционные методы (анкетирование) — низкая точность и оперативность</a:t>
            </a:r>
          </a:p>
          <a:p>
            <a:pPr marL="0" indent="0">
              <a:buNone/>
            </a:pPr>
            <a:r>
              <a:rPr lang="ru-RU" dirty="0"/>
              <a:t>Необходимость объективной оценки эмоционального состояния</a:t>
            </a:r>
          </a:p>
          <a:p>
            <a:pPr marL="0" indent="0">
              <a:buNone/>
            </a:pPr>
            <a:r>
              <a:rPr lang="ru-RU" dirty="0"/>
              <a:t>Отсутствие систем, адаптированных под РФ и ФЗ-152</a:t>
            </a:r>
          </a:p>
          <a:p>
            <a:pPr marL="0" indent="0">
              <a:buNone/>
            </a:pPr>
            <a:r>
              <a:rPr lang="ru-RU" dirty="0"/>
              <a:t>Система снизит нагрузку на HR и повысит качество оценки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1CC9F-A08B-4855-A038-008F06257CDA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254AE5-4C49-793F-E6F2-9CFEA3A60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B45B11-023A-5E91-C879-41A1B312C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Картинка: Рисунок 11 из отчёта (6 базовых эмоций по Экману)</a:t>
            </a:r>
          </a:p>
        </p:txBody>
      </p:sp>
    </p:spTree>
    <p:extLst>
      <p:ext uri="{BB962C8B-B14F-4D97-AF65-F5344CB8AC3E}">
        <p14:creationId xmlns:p14="http://schemas.microsoft.com/office/powerpoint/2010/main" val="3614981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D182C1-D99A-4CAC-9542-3094FF64E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Язык: </a:t>
            </a:r>
            <a:r>
              <a:rPr lang="en-US" dirty="0"/>
              <a:t>Python (AI-</a:t>
            </a:r>
            <a:r>
              <a:rPr lang="ru-RU" dirty="0"/>
              <a:t>модули), </a:t>
            </a:r>
            <a:r>
              <a:rPr lang="en-US" dirty="0"/>
              <a:t>Go (</a:t>
            </a:r>
            <a:r>
              <a:rPr lang="ru-RU" dirty="0"/>
              <a:t>бэкенд), </a:t>
            </a:r>
            <a:r>
              <a:rPr lang="en-US" dirty="0"/>
              <a:t>TypeScript (</a:t>
            </a:r>
            <a:r>
              <a:rPr lang="ru-RU" dirty="0" err="1"/>
              <a:t>фронтенд</a:t>
            </a:r>
            <a:r>
              <a:rPr lang="ru-RU" dirty="0"/>
              <a:t>)</a:t>
            </a:r>
          </a:p>
          <a:p>
            <a:r>
              <a:rPr lang="ru-RU" dirty="0"/>
              <a:t>Фреймворки: </a:t>
            </a:r>
            <a:r>
              <a:rPr lang="en-US" dirty="0"/>
              <a:t>React + </a:t>
            </a:r>
            <a:r>
              <a:rPr lang="en-US" dirty="0" err="1"/>
              <a:t>Vite</a:t>
            </a:r>
            <a:r>
              <a:rPr lang="en-US" dirty="0"/>
              <a:t>, Gin, </a:t>
            </a:r>
            <a:r>
              <a:rPr lang="en-US" dirty="0" err="1"/>
              <a:t>FastAPI</a:t>
            </a:r>
            <a:endParaRPr lang="en-US" dirty="0"/>
          </a:p>
          <a:p>
            <a:r>
              <a:rPr lang="ru-RU" dirty="0"/>
              <a:t>Библиотеки ИИ: </a:t>
            </a:r>
            <a:r>
              <a:rPr lang="en-US" dirty="0"/>
              <a:t>OpenCV, </a:t>
            </a:r>
            <a:r>
              <a:rPr lang="en-US" dirty="0" err="1"/>
              <a:t>DeepFace</a:t>
            </a:r>
            <a:r>
              <a:rPr lang="en-US" dirty="0"/>
              <a:t>, </a:t>
            </a:r>
            <a:r>
              <a:rPr lang="en-US" dirty="0" err="1"/>
              <a:t>MediaPipe</a:t>
            </a:r>
            <a:r>
              <a:rPr lang="en-US" dirty="0"/>
              <a:t>, faster-whisper</a:t>
            </a:r>
          </a:p>
          <a:p>
            <a:r>
              <a:rPr lang="ru-RU" dirty="0"/>
              <a:t>СУБД: </a:t>
            </a:r>
            <a:r>
              <a:rPr lang="en-US" dirty="0"/>
              <a:t>PostgreSQL + JSONB</a:t>
            </a:r>
          </a:p>
          <a:p>
            <a:r>
              <a:rPr lang="ru-RU" dirty="0"/>
              <a:t>Инструменты: </a:t>
            </a:r>
            <a:r>
              <a:rPr lang="en-US" dirty="0"/>
              <a:t>Docker, Draw.io, PyCharm</a:t>
            </a:r>
          </a:p>
          <a:p>
            <a:r>
              <a:rPr lang="ru-RU" dirty="0"/>
              <a:t>Картинки: Логотипы технологий (официальные сайты: </a:t>
            </a:r>
            <a:r>
              <a:rPr lang="en-US" dirty="0" err="1"/>
              <a:t>react.dev</a:t>
            </a:r>
            <a:r>
              <a:rPr lang="en-US" dirty="0"/>
              <a:t>, </a:t>
            </a:r>
            <a:r>
              <a:rPr lang="en-US" dirty="0" err="1"/>
              <a:t>go.dev</a:t>
            </a:r>
            <a:r>
              <a:rPr lang="en-US" dirty="0"/>
              <a:t>, python.org, postgresql.org, docker.com)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1D1AC-E48E-40DF-94EA-D6449A28C5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8982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r>
              <a:rPr lang="ru-RU" dirty="0"/>
              <a:t>Детекция лица: </a:t>
            </a:r>
            <a:r>
              <a:rPr lang="en-US" dirty="0"/>
              <a:t>MTCNN (</a:t>
            </a:r>
            <a:r>
              <a:rPr lang="ru-RU" dirty="0"/>
              <a:t>каскадная архитектура)</a:t>
            </a:r>
          </a:p>
          <a:p>
            <a:r>
              <a:rPr lang="ru-RU" dirty="0"/>
              <a:t>Классификация эмоций: </a:t>
            </a:r>
            <a:r>
              <a:rPr lang="en-US" dirty="0"/>
              <a:t>VGG-Face, </a:t>
            </a:r>
            <a:r>
              <a:rPr lang="en-US" dirty="0" err="1"/>
              <a:t>EfficientNet</a:t>
            </a:r>
            <a:endParaRPr lang="en-US" dirty="0"/>
          </a:p>
          <a:p>
            <a:r>
              <a:rPr lang="ru-RU" dirty="0"/>
              <a:t>Опционально: </a:t>
            </a:r>
            <a:r>
              <a:rPr lang="en-US" dirty="0" err="1"/>
              <a:t>MediaPipe</a:t>
            </a:r>
            <a:r>
              <a:rPr lang="en-US" dirty="0"/>
              <a:t> Face </a:t>
            </a:r>
            <a:r>
              <a:rPr lang="en-US" dirty="0" err="1"/>
              <a:t>Landmarker</a:t>
            </a:r>
            <a:r>
              <a:rPr lang="en-US" dirty="0"/>
              <a:t> (468 </a:t>
            </a:r>
            <a:r>
              <a:rPr lang="ru-RU" dirty="0"/>
              <a:t>точек)</a:t>
            </a:r>
          </a:p>
          <a:p>
            <a:r>
              <a:rPr lang="ru-RU" dirty="0"/>
              <a:t>Классификация по модели Экмана: радость, грусть, гнев, страх, удивление, отвращение</a:t>
            </a:r>
          </a:p>
          <a:p>
            <a:pPr marL="0" indent="0">
              <a:buNone/>
            </a:pPr>
            <a:r>
              <a:rPr lang="ru-RU" dirty="0"/>
              <a:t>Картинки:</a:t>
            </a:r>
          </a:p>
          <a:p>
            <a:r>
              <a:rPr lang="ru-RU" dirty="0"/>
              <a:t>Рисунок 8 (архитектура </a:t>
            </a:r>
            <a:r>
              <a:rPr lang="en-US" dirty="0"/>
              <a:t>MTCNN)</a:t>
            </a:r>
          </a:p>
          <a:p>
            <a:r>
              <a:rPr lang="ru-RU" dirty="0"/>
              <a:t>Рисунок 9 (архитектура </a:t>
            </a:r>
            <a:r>
              <a:rPr lang="en-US" dirty="0"/>
              <a:t>VGG-16)</a:t>
            </a:r>
          </a:p>
          <a:p>
            <a:r>
              <a:rPr lang="ru-RU" dirty="0"/>
              <a:t>Рисунок 10 (сетка </a:t>
            </a:r>
            <a:r>
              <a:rPr lang="en-US" dirty="0" err="1"/>
              <a:t>MediaPipe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86E8C-5C6E-4C73-90BC-84349D9F5C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5/22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-18905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5598A4-2CEB-4A01-98CC-B4D5443A0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87"/>
            <a:ext cx="10515600" cy="1325563"/>
          </a:xfrm>
        </p:spPr>
        <p:txBody>
          <a:bodyPr/>
          <a:lstStyle/>
          <a:p>
            <a:r>
              <a:rPr lang="ru-RU" dirty="0"/>
              <a:t>Модуль распознавания речи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58553F-6F10-47A7-90AD-8A548C4AE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0831"/>
            <a:ext cx="10515600" cy="5592932"/>
          </a:xfrm>
        </p:spPr>
        <p:txBody>
          <a:bodyPr>
            <a:normAutofit/>
          </a:bodyPr>
          <a:lstStyle/>
          <a:p>
            <a:r>
              <a:rPr lang="ru-RU" dirty="0"/>
              <a:t>Модель: </a:t>
            </a:r>
            <a:r>
              <a:rPr lang="en-US" dirty="0"/>
              <a:t>Whisper (OpenAI) / faster-whisper</a:t>
            </a:r>
          </a:p>
          <a:p>
            <a:r>
              <a:rPr lang="en-US" dirty="0"/>
              <a:t>Encoder-Decoder </a:t>
            </a:r>
            <a:r>
              <a:rPr lang="ru-RU" dirty="0"/>
              <a:t>трансформер</a:t>
            </a:r>
          </a:p>
          <a:p>
            <a:r>
              <a:rPr lang="ru-RU" dirty="0"/>
              <a:t>Обучение на 680 000 часов аудиоданных</a:t>
            </a:r>
          </a:p>
          <a:p>
            <a:r>
              <a:rPr lang="ru-RU" dirty="0"/>
              <a:t>Поддержка 99 языков</a:t>
            </a:r>
          </a:p>
          <a:p>
            <a:r>
              <a:rPr lang="ru-RU" dirty="0"/>
              <a:t>Оптимизация: квантование, </a:t>
            </a:r>
            <a:r>
              <a:rPr lang="en-US" dirty="0"/>
              <a:t>batching, GPU</a:t>
            </a:r>
          </a:p>
          <a:p>
            <a:pPr marL="0" indent="0">
              <a:buNone/>
            </a:pPr>
            <a:r>
              <a:rPr lang="ru-RU" dirty="0"/>
              <a:t>Картинки:</a:t>
            </a:r>
          </a:p>
          <a:p>
            <a:r>
              <a:rPr lang="ru-RU" dirty="0"/>
              <a:t>Рисунок 12 (архитектура </a:t>
            </a:r>
            <a:r>
              <a:rPr lang="en-US" dirty="0"/>
              <a:t>Transformer)</a:t>
            </a:r>
          </a:p>
          <a:p>
            <a:r>
              <a:rPr lang="ru-RU" dirty="0"/>
              <a:t>Рисунок 13 (схема </a:t>
            </a:r>
            <a:r>
              <a:rPr lang="en-US" dirty="0"/>
              <a:t>Whisper)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811B9-633B-4D7E-9477-717C2159737D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2452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39CDE-94C1-4EB4-9224-7DA92A274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Функции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C388F7-4FCC-4EBE-9E97-E7A0CDF59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Основные:</a:t>
            </a:r>
          </a:p>
          <a:p>
            <a:r>
              <a:rPr lang="ru-RU" dirty="0"/>
              <a:t>Захват видео/аудио в браузере</a:t>
            </a:r>
          </a:p>
          <a:p>
            <a:r>
              <a:rPr lang="ru-RU" dirty="0"/>
              <a:t>Детекция лиц и классификация эмоций в реальном времени</a:t>
            </a:r>
          </a:p>
          <a:p>
            <a:r>
              <a:rPr lang="ru-RU" dirty="0" err="1"/>
              <a:t>Транскрибация</a:t>
            </a:r>
            <a:r>
              <a:rPr lang="ru-RU" dirty="0"/>
              <a:t> речи и анализ тональности</a:t>
            </a:r>
          </a:p>
          <a:p>
            <a:r>
              <a:rPr lang="ru-RU" dirty="0"/>
              <a:t>Формирование аналитического отчёта</a:t>
            </a:r>
          </a:p>
          <a:p>
            <a:pPr marL="0" indent="0">
              <a:buNone/>
            </a:pPr>
            <a:r>
              <a:rPr lang="ru-RU" dirty="0"/>
              <a:t>Дополнительные:</a:t>
            </a:r>
          </a:p>
          <a:p>
            <a:r>
              <a:rPr lang="ru-RU" dirty="0"/>
              <a:t>Аутентификация (JWT + </a:t>
            </a:r>
            <a:r>
              <a:rPr lang="ru-RU" dirty="0" err="1"/>
              <a:t>bcrypt</a:t>
            </a:r>
            <a:r>
              <a:rPr lang="ru-RU" dirty="0"/>
              <a:t>)</a:t>
            </a:r>
          </a:p>
          <a:p>
            <a:r>
              <a:rPr lang="ru-RU" dirty="0" err="1"/>
              <a:t>WebSocket</a:t>
            </a:r>
            <a:r>
              <a:rPr lang="ru-RU" dirty="0"/>
              <a:t> для </a:t>
            </a:r>
            <a:r>
              <a:rPr lang="ru-RU" dirty="0" err="1"/>
              <a:t>real-time</a:t>
            </a:r>
            <a:r>
              <a:rPr lang="ru-RU" dirty="0"/>
              <a:t> обмена</a:t>
            </a:r>
          </a:p>
          <a:p>
            <a:r>
              <a:rPr lang="ru-RU" dirty="0"/>
              <a:t>Хранение данных в </a:t>
            </a:r>
            <a:r>
              <a:rPr lang="ru-RU" dirty="0" err="1"/>
              <a:t>PostgreSQL</a:t>
            </a:r>
            <a:endParaRPr lang="ru-RU" dirty="0"/>
          </a:p>
          <a:p>
            <a:r>
              <a:rPr lang="ru-RU" dirty="0"/>
              <a:t>Экспорт отчётов (JSON/PDF)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E45F7B-423C-432A-AB30-10FB23DEFF5A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4395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AAD23-B9AF-47EB-97C4-C8F7C478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Средство разработки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5FAD0-980E-4610-98D5-906FF259B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DeepFace</a:t>
            </a:r>
            <a:r>
              <a:rPr lang="en-US" dirty="0"/>
              <a:t>:</a:t>
            </a:r>
          </a:p>
          <a:p>
            <a:r>
              <a:rPr lang="ru-RU" dirty="0"/>
              <a:t>Мета-библиотека с </a:t>
            </a:r>
            <a:r>
              <a:rPr lang="ru-RU" dirty="0" err="1"/>
              <a:t>предобученными</a:t>
            </a:r>
            <a:r>
              <a:rPr lang="ru-RU" dirty="0"/>
              <a:t> моделями</a:t>
            </a:r>
          </a:p>
          <a:p>
            <a:r>
              <a:rPr lang="ru-RU" dirty="0"/>
              <a:t>Поддержка </a:t>
            </a:r>
            <a:r>
              <a:rPr lang="en-US" dirty="0"/>
              <a:t>VGG-Face, Facenet512, </a:t>
            </a:r>
            <a:r>
              <a:rPr lang="en-US" dirty="0" err="1"/>
              <a:t>EfficientNet</a:t>
            </a:r>
            <a:endParaRPr lang="en-US" dirty="0"/>
          </a:p>
          <a:p>
            <a:r>
              <a:rPr lang="en-US" dirty="0" err="1"/>
              <a:t>MediaPipe</a:t>
            </a:r>
            <a:r>
              <a:rPr lang="en-US" dirty="0"/>
              <a:t> Face </a:t>
            </a:r>
            <a:r>
              <a:rPr lang="en-US" dirty="0" err="1"/>
              <a:t>Landmarker</a:t>
            </a:r>
            <a:r>
              <a:rPr lang="en-US" dirty="0"/>
              <a:t>:</a:t>
            </a:r>
          </a:p>
          <a:p>
            <a:r>
              <a:rPr lang="en-US" dirty="0"/>
              <a:t>468 3D </a:t>
            </a:r>
            <a:r>
              <a:rPr lang="ru-RU" dirty="0"/>
              <a:t>ключевых точек</a:t>
            </a:r>
          </a:p>
          <a:p>
            <a:r>
              <a:rPr lang="en-US" dirty="0" err="1"/>
              <a:t>Blendshape</a:t>
            </a:r>
            <a:r>
              <a:rPr lang="en-US" dirty="0"/>
              <a:t>-</a:t>
            </a:r>
            <a:r>
              <a:rPr lang="ru-RU" dirty="0"/>
              <a:t>коэффициенты, углы поворота головы</a:t>
            </a:r>
          </a:p>
          <a:p>
            <a:r>
              <a:rPr lang="en-US" dirty="0"/>
              <a:t>faster-whisper:</a:t>
            </a:r>
          </a:p>
          <a:p>
            <a:r>
              <a:rPr lang="ru-RU" dirty="0"/>
              <a:t>Оптимизированный </a:t>
            </a:r>
            <a:r>
              <a:rPr lang="ru-RU" dirty="0" err="1"/>
              <a:t>инференс</a:t>
            </a:r>
            <a:r>
              <a:rPr lang="ru-RU" dirty="0"/>
              <a:t> </a:t>
            </a:r>
            <a:r>
              <a:rPr lang="en-US" dirty="0"/>
              <a:t>Whisper</a:t>
            </a:r>
          </a:p>
          <a:p>
            <a:r>
              <a:rPr lang="ru-RU" dirty="0"/>
              <a:t>Поддержка </a:t>
            </a:r>
            <a:r>
              <a:rPr lang="en-US" dirty="0"/>
              <a:t>streaming, </a:t>
            </a:r>
            <a:r>
              <a:rPr lang="ru-RU" dirty="0"/>
              <a:t>квантование</a:t>
            </a:r>
          </a:p>
          <a:p>
            <a:r>
              <a:rPr lang="ru-RU" dirty="0"/>
              <a:t>Картинки: Те же, что на слайдах 5-6 (по необходимости)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9155A-5477-428A-B594-4DE38D5D9805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13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B9A0AA-10E7-4050-98DE-0F44F58FF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Средство разработки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443656-0DAB-4754-98A4-FD307F476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9" y="1825625"/>
            <a:ext cx="550045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React 18 + TypeScript + </a:t>
            </a:r>
            <a:r>
              <a:rPr lang="en-US" b="1" dirty="0" err="1"/>
              <a:t>Vite</a:t>
            </a:r>
            <a:endParaRPr lang="en-US" b="1" dirty="0"/>
          </a:p>
          <a:p>
            <a:pPr marL="0" indent="0">
              <a:buNone/>
            </a:pPr>
            <a:r>
              <a:rPr lang="ru-RU" b="1" dirty="0"/>
              <a:t>Компонентная архитектура</a:t>
            </a:r>
          </a:p>
          <a:p>
            <a:pPr marL="0" indent="0">
              <a:buNone/>
            </a:pPr>
            <a:r>
              <a:rPr lang="en-US" b="1" dirty="0"/>
              <a:t>WebSocket </a:t>
            </a:r>
            <a:r>
              <a:rPr lang="ru-RU" b="1" dirty="0"/>
              <a:t>для </a:t>
            </a:r>
            <a:r>
              <a:rPr lang="en-US" b="1" dirty="0"/>
              <a:t>real-time</a:t>
            </a:r>
          </a:p>
          <a:p>
            <a:pPr marL="0" indent="0">
              <a:buNone/>
            </a:pPr>
            <a:r>
              <a:rPr lang="ru-RU" b="1" dirty="0"/>
              <a:t>Адаптивный дизайн</a:t>
            </a:r>
          </a:p>
          <a:p>
            <a:pPr marL="0" indent="0">
              <a:buNone/>
            </a:pPr>
            <a:r>
              <a:rPr lang="ru-RU" b="1" dirty="0"/>
              <a:t>Браузерные </a:t>
            </a:r>
            <a:r>
              <a:rPr lang="en-US" b="1" dirty="0"/>
              <a:t>Media API </a:t>
            </a:r>
            <a:r>
              <a:rPr lang="ru-RU" b="1" dirty="0"/>
              <a:t>для захвата</a:t>
            </a:r>
          </a:p>
          <a:p>
            <a:pPr marL="0" indent="0">
              <a:buNone/>
            </a:pPr>
            <a:r>
              <a:rPr lang="ru-RU" b="1" dirty="0"/>
              <a:t>Картинка: Рисунок 7 из отчёта (интерфейс системы)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5D21C4-ABD9-41FB-B81E-16DC30531647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83828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Входные данные:</a:t>
            </a:r>
          </a:p>
          <a:p>
            <a:r>
              <a:rPr lang="ru-RU" dirty="0"/>
              <a:t>Видеопоток с веб-камеры (анализ лица)</a:t>
            </a:r>
          </a:p>
          <a:p>
            <a:r>
              <a:rPr lang="ru-RU" dirty="0"/>
              <a:t>Аудиопоток с микрофона (распознавание речи)</a:t>
            </a:r>
          </a:p>
          <a:p>
            <a:pPr marL="0" indent="0">
              <a:buNone/>
            </a:pPr>
            <a:r>
              <a:rPr lang="ru-RU" dirty="0"/>
              <a:t>Обучающие данные:</a:t>
            </a:r>
          </a:p>
          <a:p>
            <a:r>
              <a:rPr lang="ru-RU" dirty="0"/>
              <a:t>Датасеты эмоций: FER-2013, </a:t>
            </a:r>
            <a:r>
              <a:rPr lang="ru-RU" dirty="0" err="1"/>
              <a:t>AffectNet</a:t>
            </a:r>
            <a:r>
              <a:rPr lang="ru-RU" dirty="0"/>
              <a:t>, RAF-DB</a:t>
            </a:r>
          </a:p>
          <a:p>
            <a:r>
              <a:rPr lang="ru-RU" dirty="0" err="1"/>
              <a:t>Аудиодатасеты</a:t>
            </a:r>
            <a:r>
              <a:rPr lang="ru-RU" dirty="0"/>
              <a:t> для ASR: </a:t>
            </a:r>
            <a:r>
              <a:rPr lang="ru-RU" dirty="0" err="1"/>
              <a:t>LibriSpeech</a:t>
            </a:r>
            <a:r>
              <a:rPr lang="ru-RU" dirty="0"/>
              <a:t>, Common Voice</a:t>
            </a:r>
          </a:p>
          <a:p>
            <a:pPr marL="0" indent="0">
              <a:buNone/>
            </a:pPr>
            <a:r>
              <a:rPr lang="ru-RU" dirty="0"/>
              <a:t>Картинка: Схема потоков данных (можно сделать в draw.io)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0098F-7052-48E4-A34F-402D8BB81F7F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765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dirty="0"/>
              <a:t>Пример обработки видеопотока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C84FC0-D965-4180-9E61-13CDF03E7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4904" y="1038686"/>
            <a:ext cx="11558016" cy="5819313"/>
          </a:xfrm>
        </p:spPr>
        <p:txBody>
          <a:bodyPr>
            <a:normAutofit/>
          </a:bodyPr>
          <a:lstStyle/>
          <a:p>
            <a:r>
              <a:rPr lang="ru-RU" dirty="0"/>
              <a:t>Детекция лица → выравнивание → извлечение признаков → классификация эмоции</a:t>
            </a:r>
          </a:p>
          <a:p>
            <a:r>
              <a:rPr lang="ru-RU" dirty="0"/>
              <a:t>Пример: кадр → </a:t>
            </a:r>
            <a:r>
              <a:rPr lang="en-US" dirty="0"/>
              <a:t>bounding box → landmarks → emotion: "happiness (0.87)"</a:t>
            </a:r>
          </a:p>
          <a:p>
            <a:r>
              <a:rPr lang="ru-RU" dirty="0"/>
              <a:t>Картинки:</a:t>
            </a:r>
          </a:p>
          <a:p>
            <a:r>
              <a:rPr lang="ru-RU" dirty="0"/>
              <a:t>Скриншот работы детекции (если есть)</a:t>
            </a:r>
          </a:p>
          <a:p>
            <a:r>
              <a:rPr lang="ru-RU" dirty="0"/>
              <a:t>ИЛИ схема </a:t>
            </a:r>
            <a:r>
              <a:rPr lang="en-US" dirty="0"/>
              <a:t>pipeline </a:t>
            </a:r>
            <a:r>
              <a:rPr lang="ru-RU" dirty="0"/>
              <a:t>обработки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6DD11-6E19-4DE8-AAA6-BECB7A79B558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ru-RU" dirty="0"/>
              <a:t>2</a:t>
            </a:r>
            <a:r>
              <a:rPr lang="en-US" dirty="0"/>
              <a:t>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8647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D815F8-363A-4FDD-BF3E-513F73DA6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обработки аудиопотока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EBD09E6-48D2-4C1B-A424-71AEB12D0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Запись аудио → мел-спектрограмма → </a:t>
            </a:r>
            <a:r>
              <a:rPr lang="en-US" dirty="0"/>
              <a:t>encoder → decoder → </a:t>
            </a:r>
            <a:r>
              <a:rPr lang="ru-RU" dirty="0"/>
              <a:t>текст + эмоция</a:t>
            </a:r>
          </a:p>
          <a:p>
            <a:r>
              <a:rPr lang="ru-RU" dirty="0"/>
              <a:t>Пример: "фрагмент речи" → транскрипт → тон: "</a:t>
            </a:r>
            <a:r>
              <a:rPr lang="en-US" dirty="0"/>
              <a:t>neutral → stress"</a:t>
            </a:r>
          </a:p>
          <a:p>
            <a:r>
              <a:rPr lang="ru-RU" dirty="0"/>
              <a:t>Картинки:</a:t>
            </a:r>
          </a:p>
          <a:p>
            <a:r>
              <a:rPr lang="ru-RU" dirty="0"/>
              <a:t>Схема работы </a:t>
            </a:r>
            <a:r>
              <a:rPr lang="en-US" dirty="0"/>
              <a:t>Whisper (</a:t>
            </a:r>
            <a:r>
              <a:rPr lang="ru-RU" dirty="0"/>
              <a:t>рисунок 13)</a:t>
            </a:r>
          </a:p>
          <a:p>
            <a:r>
              <a:rPr lang="ru-RU" dirty="0"/>
              <a:t>ИЛИ пример спектрограммы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01ADA-F907-446F-A529-8B6A4967B58D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7174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BFD6B-99D2-42D5-806B-5AF98D60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540" y="758193"/>
            <a:ext cx="4905652" cy="1496735"/>
          </a:xfrm>
        </p:spPr>
        <p:txBody>
          <a:bodyPr>
            <a:normAutofit/>
          </a:bodyPr>
          <a:lstStyle/>
          <a:p>
            <a:r>
              <a:rPr lang="ru-RU" dirty="0"/>
              <a:t>Алгоритм работы системы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1068E4-64AA-4881-9003-243658ECFBBE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14/22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830C30-DFFB-B5DE-EE03-CA29D77B4CCF}"/>
              </a:ext>
            </a:extLst>
          </p:cNvPr>
          <p:cNvSpPr txBox="1"/>
          <p:nvPr/>
        </p:nvSpPr>
        <p:spPr>
          <a:xfrm>
            <a:off x="3047238" y="2274838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ru-RU" dirty="0"/>
              <a:t>Авторизация пользователя</a:t>
            </a:r>
          </a:p>
          <a:p>
            <a:pPr algn="l">
              <a:buFont typeface="+mj-lt"/>
              <a:buAutoNum type="arabicPeriod"/>
            </a:pPr>
            <a:r>
              <a:rPr lang="ru-RU" dirty="0"/>
              <a:t>Создание/присоединение к сессии</a:t>
            </a:r>
          </a:p>
          <a:p>
            <a:pPr algn="l">
              <a:buFont typeface="+mj-lt"/>
              <a:buAutoNum type="arabicPeriod"/>
            </a:pPr>
            <a:r>
              <a:rPr lang="ru-RU" dirty="0"/>
              <a:t>Захват медиа (видео + аудио)</a:t>
            </a:r>
          </a:p>
          <a:p>
            <a:pPr algn="l">
              <a:buFont typeface="+mj-lt"/>
              <a:buAutoNum type="arabicPeriod"/>
            </a:pPr>
            <a:r>
              <a:rPr lang="ru-RU" dirty="0"/>
              <a:t>Параллельная обработка: лицо → эмоция, речь → текст + тон</a:t>
            </a:r>
          </a:p>
          <a:p>
            <a:pPr algn="l">
              <a:buFont typeface="+mj-lt"/>
              <a:buAutoNum type="arabicPeriod"/>
            </a:pPr>
            <a:r>
              <a:rPr lang="ru-RU" dirty="0"/>
              <a:t>Агрегация результатов (</a:t>
            </a:r>
            <a:r>
              <a:rPr lang="ru-RU" dirty="0" err="1"/>
              <a:t>late</a:t>
            </a:r>
            <a:r>
              <a:rPr lang="ru-RU" dirty="0"/>
              <a:t> </a:t>
            </a:r>
            <a:r>
              <a:rPr lang="ru-RU" dirty="0" err="1"/>
              <a:t>fusion</a:t>
            </a:r>
            <a:r>
              <a:rPr lang="ru-RU" dirty="0"/>
              <a:t>)</a:t>
            </a:r>
          </a:p>
          <a:p>
            <a:pPr algn="l">
              <a:buFont typeface="+mj-lt"/>
              <a:buAutoNum type="arabicPeriod"/>
            </a:pPr>
            <a:r>
              <a:rPr lang="ru-RU" dirty="0"/>
              <a:t>Формирование и отображение отчёта</a:t>
            </a:r>
          </a:p>
          <a:p>
            <a:pPr algn="l"/>
            <a:r>
              <a:rPr lang="ru-RU" dirty="0"/>
              <a:t>Картинка: Блок-схема алгоритма (сделать в draw.io)</a:t>
            </a:r>
          </a:p>
        </p:txBody>
      </p:sp>
    </p:spTree>
    <p:extLst>
      <p:ext uri="{BB962C8B-B14F-4D97-AF65-F5344CB8AC3E}">
        <p14:creationId xmlns:p14="http://schemas.microsoft.com/office/powerpoint/2010/main" val="4254625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BED1AB-11C4-48F5-BF70-1ACBA146FC6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15/22</a:t>
            </a: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C7FE94C1-7119-09AA-1780-C0215FA1FB94}"/>
              </a:ext>
            </a:extLst>
          </p:cNvPr>
          <p:cNvSpPr txBox="1">
            <a:spLocks/>
          </p:cNvSpPr>
          <p:nvPr/>
        </p:nvSpPr>
        <p:spPr>
          <a:xfrm>
            <a:off x="223058" y="290010"/>
            <a:ext cx="3018905" cy="2292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Интерфейс системы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2A9AF-D03C-4F58-31FE-7D5114D10DF8}"/>
              </a:ext>
            </a:extLst>
          </p:cNvPr>
          <p:cNvSpPr txBox="1"/>
          <p:nvPr/>
        </p:nvSpPr>
        <p:spPr>
          <a:xfrm>
            <a:off x="3047238" y="282883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dirty="0"/>
              <a:t>Картинка: Рисунок 7 из отчёта (полноэкранный скриншот интерфейса)</a:t>
            </a:r>
          </a:p>
        </p:txBody>
      </p:sp>
    </p:spTree>
    <p:extLst>
      <p:ext uri="{BB962C8B-B14F-4D97-AF65-F5344CB8AC3E}">
        <p14:creationId xmlns:p14="http://schemas.microsoft.com/office/powerpoint/2010/main" val="18505624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23B7ED-CC57-49E9-84A2-D9248AB69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75" y="105052"/>
            <a:ext cx="4204317" cy="2176509"/>
          </a:xfrm>
        </p:spPr>
        <p:txBody>
          <a:bodyPr>
            <a:normAutofit/>
          </a:bodyPr>
          <a:lstStyle/>
          <a:p>
            <a:r>
              <a:rPr lang="ru-RU" sz="3600" dirty="0"/>
              <a:t>Пример аналитического отчёта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95F111-5EAD-4700-80E6-067F170BC9FE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16/22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4F11B4-836D-A570-EF85-38D41BD9C562}"/>
              </a:ext>
            </a:extLst>
          </p:cNvPr>
          <p:cNvSpPr txBox="1"/>
          <p:nvPr/>
        </p:nvSpPr>
        <p:spPr>
          <a:xfrm>
            <a:off x="2978658" y="2690336"/>
            <a:ext cx="61401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Сводка по встрече: распределение эмоций, активность, ключевые фразы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/>
              <a:t>Карточки участников с индивидуальной статистикой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dirty="0" err="1"/>
              <a:t>Таймлайны</a:t>
            </a:r>
            <a:r>
              <a:rPr lang="ru-RU" dirty="0"/>
              <a:t> изменения эмоций</a:t>
            </a:r>
          </a:p>
          <a:p>
            <a:pPr algn="l"/>
            <a:r>
              <a:rPr lang="ru-RU" dirty="0"/>
              <a:t>Картинка: Скриншот примера отчёта (если есть в проекте)</a:t>
            </a:r>
          </a:p>
        </p:txBody>
      </p:sp>
    </p:spTree>
    <p:extLst>
      <p:ext uri="{BB962C8B-B14F-4D97-AF65-F5344CB8AC3E}">
        <p14:creationId xmlns:p14="http://schemas.microsoft.com/office/powerpoint/2010/main" val="141243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3F0CB6-C78C-4805-AEBB-AFF9D10A5577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18/22</a:t>
            </a:r>
            <a:endParaRPr lang="ru-RU" dirty="0"/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6603485B-22FC-0A97-1718-C889CAEE5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модуля детекции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CE1EB7-33D9-2E65-0BC0-90F903F3C93E}"/>
              </a:ext>
            </a:extLst>
          </p:cNvPr>
          <p:cNvSpPr txBox="1"/>
          <p:nvPr/>
        </p:nvSpPr>
        <p:spPr>
          <a:xfrm>
            <a:off x="3047238" y="2967335"/>
            <a:ext cx="60944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До/после: исходный кадр → кадр с </a:t>
            </a:r>
            <a:r>
              <a:rPr lang="ru-RU" dirty="0" err="1"/>
              <a:t>bounding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 и эмоцией</a:t>
            </a:r>
          </a:p>
          <a:p>
            <a:r>
              <a:rPr lang="ru-RU" dirty="0"/>
              <a:t>Картинка: Сравнительный скриншот (можно сделать скрин из работающей системы)</a:t>
            </a:r>
          </a:p>
        </p:txBody>
      </p:sp>
    </p:spTree>
    <p:extLst>
      <p:ext uri="{BB962C8B-B14F-4D97-AF65-F5344CB8AC3E}">
        <p14:creationId xmlns:p14="http://schemas.microsoft.com/office/powerpoint/2010/main" val="28340052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3ACA76-DC55-4EE2-B96E-8C8DD92607FB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19/22</a:t>
            </a:r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D64F9D4-50F5-E5DE-1F6D-A6CCD663D908}"/>
              </a:ext>
            </a:extLst>
          </p:cNvPr>
          <p:cNvSpPr txBox="1">
            <a:spLocks/>
          </p:cNvSpPr>
          <p:nvPr/>
        </p:nvSpPr>
        <p:spPr>
          <a:xfrm>
            <a:off x="163498" y="-13202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600" dirty="0"/>
              <a:t>Пример работы модуля распознавания речи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3D4684-574A-EA26-898C-4CBE180E21B9}"/>
              </a:ext>
            </a:extLst>
          </p:cNvPr>
          <p:cNvSpPr txBox="1"/>
          <p:nvPr/>
        </p:nvSpPr>
        <p:spPr>
          <a:xfrm>
            <a:off x="3026664" y="2903327"/>
            <a:ext cx="6108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Аудиоволна</a:t>
            </a:r>
            <a:r>
              <a:rPr lang="ru-RU" dirty="0"/>
              <a:t> → текст → выделение эмоциональных маркеров</a:t>
            </a:r>
          </a:p>
          <a:p>
            <a:r>
              <a:rPr lang="ru-RU" dirty="0"/>
              <a:t>Картинка: Скриншот транскрипта с разметкой эмоций</a:t>
            </a:r>
          </a:p>
        </p:txBody>
      </p:sp>
    </p:spTree>
    <p:extLst>
      <p:ext uri="{BB962C8B-B14F-4D97-AF65-F5344CB8AC3E}">
        <p14:creationId xmlns:p14="http://schemas.microsoft.com/office/powerpoint/2010/main" val="12302992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/>
          </a:bodyPr>
          <a:lstStyle/>
          <a:p>
            <a:r>
              <a:rPr lang="ru-RU" dirty="0"/>
              <a:t>Цель и задачи выполнены</a:t>
            </a:r>
          </a:p>
          <a:p>
            <a:r>
              <a:rPr lang="ru-RU" dirty="0"/>
              <a:t>Реализована мультимодальная система анализа эмоций</a:t>
            </a:r>
          </a:p>
          <a:p>
            <a:r>
              <a:rPr lang="ru-RU" dirty="0"/>
              <a:t>Протестированы ключевые модули (детекция, ASR, отчётность)</a:t>
            </a:r>
          </a:p>
          <a:p>
            <a:r>
              <a:rPr lang="ru-RU" dirty="0"/>
              <a:t>Система готова к внедрению в HR-процессы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0758E-ED01-4E2A-9F8C-4C0573556692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2/22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795</Words>
  <Application>Microsoft Office PowerPoint</Application>
  <PresentationFormat>Широкоэкранный</PresentationFormat>
  <Paragraphs>139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Тема Office</vt:lpstr>
      <vt:lpstr>ПРОИЗВОДСТВЕННАЯ ПРАКТИКА, ПРЕДДИПЛОМНАЯ ПРАКТИКА </vt:lpstr>
      <vt:lpstr>Цель и задачи практики</vt:lpstr>
      <vt:lpstr>Актуальность</vt:lpstr>
      <vt:lpstr>Актуальность</vt:lpstr>
      <vt:lpstr>Средства и технологии разработки</vt:lpstr>
      <vt:lpstr>Модуль анализа лица и эмоций</vt:lpstr>
      <vt:lpstr>Модуль распознавания речи</vt:lpstr>
      <vt:lpstr>Функции системы</vt:lpstr>
      <vt:lpstr>Средство разработки интерфейса</vt:lpstr>
      <vt:lpstr>Средство разработки пользовательского интерфейса</vt:lpstr>
      <vt:lpstr>Информационное обеспечение</vt:lpstr>
      <vt:lpstr>Пример обработки видеопотока</vt:lpstr>
      <vt:lpstr>Пример обработки аудиопотока</vt:lpstr>
      <vt:lpstr>Алгоритм работы системы</vt:lpstr>
      <vt:lpstr>Презентация PowerPoint</vt:lpstr>
      <vt:lpstr>Пример аналитического отчёта</vt:lpstr>
      <vt:lpstr>Пример работы модуля детекции</vt:lpstr>
      <vt:lpstr>Презентация PowerPoint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 </dc:title>
  <dc:creator>Роман Чирко</dc:creator>
  <cp:lastModifiedBy>Виталий Демьянцев</cp:lastModifiedBy>
  <cp:revision>78</cp:revision>
  <dcterms:created xsi:type="dcterms:W3CDTF">2024-05-28T15:56:43Z</dcterms:created>
  <dcterms:modified xsi:type="dcterms:W3CDTF">2026-05-18T21:46:48Z</dcterms:modified>
</cp:coreProperties>
</file>