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82" r:id="rId5"/>
    <p:sldId id="259" r:id="rId6"/>
    <p:sldId id="260" r:id="rId7"/>
    <p:sldId id="261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2" r:id="rId16"/>
    <p:sldId id="274" r:id="rId17"/>
    <p:sldId id="276" r:id="rId18"/>
    <p:sldId id="277" r:id="rId19"/>
    <p:sldId id="280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C8BE10-CF6A-433B-A665-B07A0F5F1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F2B8DFD-3DE7-4FBB-9379-4CA65BD528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E9C10B6-9AD9-48F7-8A51-653EBDA6B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D95CF36-2944-4819-9146-7A1DED1EA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C57A1D-78F6-4A51-BE24-BBABD28DC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0926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71673-A45B-40E8-8606-A35A0D982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E615B0D-2B65-4A3B-9210-B8D32D10B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4644779-8B0E-4870-BE22-68D8EC4E5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9BE05C-2C3A-41C6-8170-5C715265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5380D7-1212-4185-8C9F-DA456C4D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4264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B186F-FA08-4D4E-967C-1F799E316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71C260-AFB2-4F3F-9F9D-D70FCC9CA8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6EF3DB-C509-46F4-A47B-CB52ED428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7B894F-8017-40E9-BE58-EE2B32DC78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1885ACA-E8F7-448C-92B8-76FCF2F5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0864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49F36F-C100-425F-A6D4-442C831C9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1CB49F-A20E-4BC1-B7B9-AB2678E66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F6BDC06-E41E-45A8-92F3-F23B09C876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DC4B84D-F0BD-41AC-B75E-7ED71D519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7D1283D-6573-461F-BE8C-92BE392CF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35D11FB-AD6E-4F64-BA97-F9B790FC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6873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E3FE31-F08D-4F78-BB13-D092EA9DD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87FB431-4874-4F08-BB5A-F0A67B68B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58FB0E6-7B7E-4DA1-879B-E5DD6EACC78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53BC42D-0B1D-40F8-957F-3259926153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2668AD02-CE5C-405A-B4AB-47C8A3E9F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ADF9323-1E59-422D-B5E1-53CEED964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CBBE23A-C69D-4BC4-A044-7DE420DFB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9FAECF8-2DB3-483A-A51A-72E3F321C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3061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8525297-E1DF-4F49-844C-B5004B497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8D61B0-571E-4634-820D-BE8C43CDC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C9AB50D-DED9-4F09-B633-0D1A479C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A73912-C4BB-4DEC-8A81-A4DC61ABE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575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68E753-EE03-4932-B563-6CB3695FB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4E1FC9-E731-4E2E-A678-2EAC238D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88D96B6-73F8-42DC-9693-AEA5C147F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70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D8F7A58-7B76-41EA-8ED3-277621617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DCBBDE-E02C-456B-AFF6-4B3969FB4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713A34A-7160-46D2-B526-1ABBF48DDE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D33588-48BF-4723-90C0-34EB6673A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FBFF21-15CB-4547-87C3-5DF872D3A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AA8FAE0-BB62-42BB-832B-D94B813F2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301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6DFCD8-53BB-4463-BF82-6C7CA9DAB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955AB4A-951B-4140-B839-C72779208F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61F6312-54B5-4ADE-81FB-8EBE6FDA7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4805582-3CBF-48EF-8D6B-EF8C6060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290B654-3B75-40D0-83FE-24DFB98C5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DCD482-790B-436A-A99F-2E534C50E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10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9B58C2-21EA-44AA-B7F3-4E258A3FD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BB08977-A57D-4110-80B2-538505DEF5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FB0C64-00AF-4066-9CEE-B34830B9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0415E4B-6CBF-47BB-BE97-CAE8A940B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3A9E350-9987-4E2A-A7EC-08500BFBDD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03713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9CAE9B5-8DBF-43B5-9DE5-AF658E080F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72826EE-6F4D-4E7B-93E9-708EE53AB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69952D-ECC0-4EE7-AD58-1F630F842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DA583EC-4F2A-427F-8F43-695E9CE544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FB9DE81-5F8C-488E-89F3-E93A1361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07847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163F25-8401-4050-B9C0-1864FD918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C158BF0-F39C-48A3-8E8A-C22EF5572C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115F282-4ED1-4FED-82A5-D48D197176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8EB9DB-94B2-4D97-AB29-D096994DA229}" type="datetimeFigureOut">
              <a:rPr lang="ru-RU" smtClean="0"/>
              <a:t>19.05.2026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AA805AD-E84B-485F-BE45-31A48BA732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C1D08D-9EC8-40DB-9B46-669208259D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9DB6E4-81A8-48FA-A111-413E3E85E76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5956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74B1E9-7B85-41C6-AC8B-242A6B603E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ПРОИЗВОДСТВЕННАЯ ПРАКТИКА, ПРЕДДИПЛОМНАЯ ПРАКТИКА</a:t>
            </a:r>
            <a:br>
              <a:rPr lang="ru-RU" dirty="0"/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CE82BE8-E71E-47E7-B354-024530FDD7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/>
              <a:t>Выполнил: студент группы 606-22 Демьянцев В.В.</a:t>
            </a:r>
          </a:p>
          <a:p>
            <a:pPr algn="r"/>
            <a:r>
              <a:rPr lang="ru-RU" dirty="0"/>
              <a:t>Научный руководитель: старший преподаватель </a:t>
            </a:r>
            <a:r>
              <a:rPr lang="ru-RU" dirty="0" err="1"/>
              <a:t>каф.АСОИУ</a:t>
            </a:r>
            <a:r>
              <a:rPr lang="ru-RU" dirty="0"/>
              <a:t> Горбунов Д.В.</a:t>
            </a:r>
          </a:p>
        </p:txBody>
      </p:sp>
    </p:spTree>
    <p:extLst>
      <p:ext uri="{BB962C8B-B14F-4D97-AF65-F5344CB8AC3E}">
        <p14:creationId xmlns:p14="http://schemas.microsoft.com/office/powerpoint/2010/main" val="2314773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D263BA0-F9D7-4AEB-A9F7-D9E30D49B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практики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9CC613-FDC1-4225-B204-891E0DB45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344" y="1426464"/>
            <a:ext cx="11530584" cy="4828031"/>
          </a:xfrm>
        </p:spPr>
        <p:txBody>
          <a:bodyPr>
            <a:noAutofit/>
          </a:bodyPr>
          <a:lstStyle/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Цель практики: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Разработать программную часть системы распознавания эмоций человека на основе искусственной нейронной сети с использованием методов компьютерного зрения и глубокого обучения, включая обработку видеопотока, обучение модели и интеграцию с базой данных.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Задачи практики: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Описание средств и технологий разработки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Проработка видов обеспечения: информационное обеспечение, программное обеспечение, алгоритмическое обеспечение, математическое обеспечение, техническое обеспечение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Реализация модуля анализа лица и эмоций на основе </a:t>
            </a:r>
            <a:r>
              <a:rPr lang="ru-RU" sz="14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сверточных</a:t>
            </a: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нейронных сетей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Реализация модуля распознавания речи и анализа аудиопотока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Разработка пользовательского интерфейса программного комплекса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Интеграция модулей искусственного интеллекта в единую систему</a:t>
            </a:r>
          </a:p>
          <a:p>
            <a:pPr indent="0" algn="just">
              <a:lnSpc>
                <a:spcPct val="150000"/>
              </a:lnSpc>
              <a:buNone/>
            </a:pPr>
            <a:r>
              <a:rPr lang="ru-RU" sz="14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Подготовка отчета по преддипломной практике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8D8360-FA0F-440D-8156-2BF331DE0269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dirty="0"/>
              <a:t>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0414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9600A-14F2-4F8C-96F2-69CA1CCBA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317" y="68231"/>
            <a:ext cx="10515600" cy="1325563"/>
          </a:xfrm>
        </p:spPr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F3E649-ADA8-4250-87FF-0757785BB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783" y="1118586"/>
            <a:ext cx="10830017" cy="551303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/>
              <a:t>Рост значимости эмоционального интеллекта в HR: Современные подходы к управлению персоналом подчеркивают важность учёта эмоционального состояния сотрудников для повышения производительности и снижения текучести кадров. Эмоции влияют на мотивацию, вовлечённость и качество работы.</a:t>
            </a:r>
          </a:p>
          <a:p>
            <a:pPr marL="0" indent="0">
              <a:buNone/>
            </a:pPr>
            <a:r>
              <a:rPr lang="ru-RU" dirty="0"/>
              <a:t>Ограниченность традиционных методов: Субъективные оценки и анкетирование не обеспечивают высокой точности и оперативности, что затрудняет своевременное выявление проблем, таких как профессиональное выгорание или снижение вовлечённости.</a:t>
            </a:r>
          </a:p>
          <a:p>
            <a:pPr marL="0" indent="0">
              <a:buNone/>
            </a:pPr>
            <a:r>
              <a:rPr lang="ru-RU" dirty="0"/>
              <a:t>Развитие технологий ИИ: Прогресс в области компьютерного зрения, обработки аудиосигналов и глубокого обучения создаёт основу для разработки автоматизированных систем анализа эмоций в реальном времени.</a:t>
            </a:r>
          </a:p>
          <a:p>
            <a:pPr marL="0" indent="0">
              <a:buNone/>
            </a:pPr>
            <a:r>
              <a:rPr lang="ru-RU" dirty="0"/>
              <a:t>Потребность в мультимодальном анализе: Комплексный подход, объединяющий видео- и аудиоданные, позволяет учитывать разнообразные аспекты эмоционального состояния, повышая точность классификации до 85% и выше.</a:t>
            </a:r>
          </a:p>
          <a:p>
            <a:pPr marL="0" indent="0">
              <a:buNone/>
            </a:pPr>
            <a:r>
              <a:rPr lang="ru-RU" dirty="0"/>
              <a:t>Экономическая эффективность: Автоматизация анализа эмоций способствует снижению затрат на HR-процессы, таких как подбор персонала и мониторинг вовлечённости, за счёт оперативного предоставления данных для принятия управленческих решений.</a:t>
            </a:r>
          </a:p>
          <a:p>
            <a:pPr marL="0" indent="0">
              <a:buNone/>
            </a:pPr>
            <a:r>
              <a:rPr lang="ru-RU" dirty="0"/>
              <a:t>Соответствие законодательству: Разрабатываемая система обеспечивает соответствие требованиям ФЗ-152 о защите персональных данных за счёт локальной обработки информации и шифрования.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1CC9F-A08B-4855-A038-008F06257CDA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86301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254AE5-4C49-793F-E6F2-9CFEA3A60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B45B11-023A-5E91-C879-41A1B312C9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Картинка: Рисунок 11 из отчёта (6 базовых эмоций по Экману)</a:t>
            </a:r>
          </a:p>
        </p:txBody>
      </p:sp>
    </p:spTree>
    <p:extLst>
      <p:ext uri="{BB962C8B-B14F-4D97-AF65-F5344CB8AC3E}">
        <p14:creationId xmlns:p14="http://schemas.microsoft.com/office/powerpoint/2010/main" val="3614981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E8DEFDC-A437-4C47-B07D-6342E196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Средства и технологии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0D182C1-D99A-4CAC-9542-3094FF64E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Язык: </a:t>
            </a:r>
            <a:r>
              <a:rPr lang="en-US" dirty="0"/>
              <a:t>Python (AI-</a:t>
            </a:r>
            <a:r>
              <a:rPr lang="ru-RU" dirty="0"/>
              <a:t>модули), </a:t>
            </a:r>
            <a:r>
              <a:rPr lang="en-US" dirty="0"/>
              <a:t>Go (</a:t>
            </a:r>
            <a:r>
              <a:rPr lang="ru-RU" dirty="0"/>
              <a:t>бэкенд), </a:t>
            </a:r>
            <a:r>
              <a:rPr lang="en-US" dirty="0"/>
              <a:t>TypeScript (</a:t>
            </a:r>
            <a:r>
              <a:rPr lang="ru-RU" dirty="0" err="1"/>
              <a:t>фронтенд</a:t>
            </a:r>
            <a:r>
              <a:rPr lang="ru-RU" dirty="0"/>
              <a:t>)</a:t>
            </a:r>
          </a:p>
          <a:p>
            <a:r>
              <a:rPr lang="ru-RU" dirty="0"/>
              <a:t>Фреймворки: </a:t>
            </a:r>
            <a:r>
              <a:rPr lang="en-US" dirty="0"/>
              <a:t>React + </a:t>
            </a:r>
            <a:r>
              <a:rPr lang="en-US" dirty="0" err="1"/>
              <a:t>Vite</a:t>
            </a:r>
            <a:r>
              <a:rPr lang="en-US" dirty="0"/>
              <a:t>, Gin, </a:t>
            </a:r>
            <a:r>
              <a:rPr lang="en-US" dirty="0" err="1"/>
              <a:t>FastAPI</a:t>
            </a:r>
            <a:endParaRPr lang="en-US" dirty="0"/>
          </a:p>
          <a:p>
            <a:r>
              <a:rPr lang="ru-RU" dirty="0"/>
              <a:t>Библиотеки ИИ: </a:t>
            </a:r>
            <a:r>
              <a:rPr lang="en-US" dirty="0"/>
              <a:t>OpenCV, </a:t>
            </a:r>
            <a:r>
              <a:rPr lang="en-US" dirty="0" err="1"/>
              <a:t>DeepFace</a:t>
            </a:r>
            <a:r>
              <a:rPr lang="en-US" dirty="0"/>
              <a:t>, </a:t>
            </a:r>
            <a:r>
              <a:rPr lang="en-US" dirty="0" err="1"/>
              <a:t>MediaPipe</a:t>
            </a:r>
            <a:r>
              <a:rPr lang="en-US" dirty="0"/>
              <a:t>, faster-whisper</a:t>
            </a:r>
          </a:p>
          <a:p>
            <a:r>
              <a:rPr lang="ru-RU" dirty="0"/>
              <a:t>СУБД: </a:t>
            </a:r>
            <a:r>
              <a:rPr lang="en-US" dirty="0"/>
              <a:t>PostgreSQL + JSONB</a:t>
            </a:r>
          </a:p>
          <a:p>
            <a:r>
              <a:rPr lang="ru-RU" dirty="0"/>
              <a:t>Инструменты: </a:t>
            </a:r>
            <a:r>
              <a:rPr lang="en-US" dirty="0"/>
              <a:t>Docker, Draw.io, PyCharm</a:t>
            </a:r>
          </a:p>
          <a:p>
            <a:r>
              <a:rPr lang="ru-RU" dirty="0"/>
              <a:t>Картинки: Логотипы технологий (официальные сайты: </a:t>
            </a:r>
            <a:r>
              <a:rPr lang="en-US" dirty="0" err="1"/>
              <a:t>react.dev</a:t>
            </a:r>
            <a:r>
              <a:rPr lang="en-US" dirty="0"/>
              <a:t>, </a:t>
            </a:r>
            <a:r>
              <a:rPr lang="en-US" dirty="0" err="1"/>
              <a:t>go.dev</a:t>
            </a:r>
            <a:r>
              <a:rPr lang="en-US" dirty="0"/>
              <a:t>, python.org, postgresql.org, docker.com)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21D1AC-E48E-40DF-94EA-D6449A28C51C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78982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C9F7A7BF-345D-4464-BA61-1943803CE2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69118"/>
            <a:ext cx="10515600" cy="5839612"/>
          </a:xfrm>
        </p:spPr>
        <p:txBody>
          <a:bodyPr>
            <a:normAutofit/>
          </a:bodyPr>
          <a:lstStyle/>
          <a:p>
            <a:r>
              <a:rPr lang="ru-RU" dirty="0"/>
              <a:t>Детекция лица: </a:t>
            </a:r>
            <a:r>
              <a:rPr lang="en-US" dirty="0"/>
              <a:t>MTCNN (</a:t>
            </a:r>
            <a:r>
              <a:rPr lang="ru-RU" dirty="0"/>
              <a:t>каскадная архитектура)</a:t>
            </a:r>
          </a:p>
          <a:p>
            <a:r>
              <a:rPr lang="ru-RU" dirty="0"/>
              <a:t>Классификация эмоций: </a:t>
            </a:r>
            <a:r>
              <a:rPr lang="en-US" dirty="0"/>
              <a:t>VGG-Face, </a:t>
            </a:r>
            <a:r>
              <a:rPr lang="en-US" dirty="0" err="1"/>
              <a:t>EfficientNet</a:t>
            </a:r>
            <a:endParaRPr lang="en-US" dirty="0"/>
          </a:p>
          <a:p>
            <a:r>
              <a:rPr lang="ru-RU" dirty="0"/>
              <a:t>Опционально: </a:t>
            </a:r>
            <a:r>
              <a:rPr lang="en-US" dirty="0" err="1"/>
              <a:t>MediaPipe</a:t>
            </a:r>
            <a:r>
              <a:rPr lang="en-US" dirty="0"/>
              <a:t> Face </a:t>
            </a:r>
            <a:r>
              <a:rPr lang="en-US" dirty="0" err="1"/>
              <a:t>Landmarker</a:t>
            </a:r>
            <a:r>
              <a:rPr lang="en-US" dirty="0"/>
              <a:t> (468 </a:t>
            </a:r>
            <a:r>
              <a:rPr lang="ru-RU" dirty="0"/>
              <a:t>точек)</a:t>
            </a:r>
          </a:p>
          <a:p>
            <a:r>
              <a:rPr lang="ru-RU" dirty="0"/>
              <a:t>Классификация по модели Экмана: радость, грусть, гнев, страх, удивление, отвращение</a:t>
            </a:r>
          </a:p>
          <a:p>
            <a:pPr marL="0" indent="0">
              <a:buNone/>
            </a:pPr>
            <a:r>
              <a:rPr lang="ru-RU" dirty="0"/>
              <a:t>Картинки:</a:t>
            </a:r>
          </a:p>
          <a:p>
            <a:r>
              <a:rPr lang="ru-RU" dirty="0"/>
              <a:t>Рисунок 8 (архитектура </a:t>
            </a:r>
            <a:r>
              <a:rPr lang="en-US" dirty="0"/>
              <a:t>MTCNN)</a:t>
            </a:r>
          </a:p>
          <a:p>
            <a:r>
              <a:rPr lang="ru-RU" dirty="0"/>
              <a:t>Рисунок 9 (архитектура </a:t>
            </a:r>
            <a:r>
              <a:rPr lang="en-US" dirty="0"/>
              <a:t>VGG-16)</a:t>
            </a:r>
          </a:p>
          <a:p>
            <a:r>
              <a:rPr lang="ru-RU" dirty="0"/>
              <a:t>Рисунок 10 (сетка </a:t>
            </a:r>
            <a:r>
              <a:rPr lang="en-US" dirty="0" err="1"/>
              <a:t>MediaPipe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686E8C-5C6E-4C73-90BC-84349D9F5C1C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5/22</a:t>
            </a:r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8CB9A-86AF-B0B7-3E9B-73D490908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955" y="-189056"/>
            <a:ext cx="10515600" cy="1325563"/>
          </a:xfrm>
        </p:spPr>
        <p:txBody>
          <a:bodyPr>
            <a:normAutofit/>
          </a:bodyPr>
          <a:lstStyle/>
          <a:p>
            <a:r>
              <a:rPr lang="ru-RU" sz="4000" dirty="0"/>
              <a:t>Модуль анализа лица и эмоций</a:t>
            </a:r>
          </a:p>
        </p:txBody>
      </p:sp>
    </p:spTree>
    <p:extLst>
      <p:ext uri="{BB962C8B-B14F-4D97-AF65-F5344CB8AC3E}">
        <p14:creationId xmlns:p14="http://schemas.microsoft.com/office/powerpoint/2010/main" val="3376878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5598A4-2CEB-4A01-98CC-B4D5443A0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987"/>
            <a:ext cx="10515600" cy="1325563"/>
          </a:xfrm>
        </p:spPr>
        <p:txBody>
          <a:bodyPr/>
          <a:lstStyle/>
          <a:p>
            <a:r>
              <a:rPr lang="ru-RU" dirty="0"/>
              <a:t>Модуль распознавания речи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58553F-6F10-47A7-90AD-8A548C4AE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0831"/>
            <a:ext cx="10515600" cy="5592932"/>
          </a:xfrm>
        </p:spPr>
        <p:txBody>
          <a:bodyPr>
            <a:normAutofit/>
          </a:bodyPr>
          <a:lstStyle/>
          <a:p>
            <a:r>
              <a:rPr lang="ru-RU" dirty="0"/>
              <a:t>Модель: </a:t>
            </a:r>
            <a:r>
              <a:rPr lang="en-US" dirty="0"/>
              <a:t>Whisper (OpenAI) / faster-whisper</a:t>
            </a:r>
          </a:p>
          <a:p>
            <a:r>
              <a:rPr lang="en-US" dirty="0"/>
              <a:t>Encoder-Decoder </a:t>
            </a:r>
            <a:r>
              <a:rPr lang="ru-RU" dirty="0"/>
              <a:t>трансформер</a:t>
            </a:r>
          </a:p>
          <a:p>
            <a:r>
              <a:rPr lang="ru-RU" dirty="0"/>
              <a:t>Обучение на 680 000 часов аудиоданных</a:t>
            </a:r>
          </a:p>
          <a:p>
            <a:r>
              <a:rPr lang="ru-RU" dirty="0"/>
              <a:t>Поддержка 99 языков</a:t>
            </a:r>
          </a:p>
          <a:p>
            <a:r>
              <a:rPr lang="ru-RU" dirty="0"/>
              <a:t>Оптимизация: квантование, </a:t>
            </a:r>
            <a:r>
              <a:rPr lang="en-US" dirty="0"/>
              <a:t>batching, GPU</a:t>
            </a:r>
          </a:p>
          <a:p>
            <a:pPr marL="0" indent="0">
              <a:buNone/>
            </a:pPr>
            <a:r>
              <a:rPr lang="ru-RU" dirty="0"/>
              <a:t>Картинки:</a:t>
            </a:r>
          </a:p>
          <a:p>
            <a:r>
              <a:rPr lang="ru-RU" dirty="0"/>
              <a:t>Рисунок 12 (архитектура </a:t>
            </a:r>
            <a:r>
              <a:rPr lang="en-US" dirty="0"/>
              <a:t>Transformer)</a:t>
            </a:r>
          </a:p>
          <a:p>
            <a:r>
              <a:rPr lang="ru-RU" dirty="0"/>
              <a:t>Рисунок 13 (схема </a:t>
            </a:r>
            <a:r>
              <a:rPr lang="en-US" dirty="0"/>
              <a:t>Whisper)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6811B9-633B-4D7E-9477-717C2159737D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12452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339CDE-94C1-4EB4-9224-7DA92A274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C388F7-4FCC-4EBE-9E97-E7A0CDF59B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Основные:</a:t>
            </a:r>
          </a:p>
          <a:p>
            <a:r>
              <a:rPr lang="ru-RU" dirty="0"/>
              <a:t>Захват видео/аудио в браузере</a:t>
            </a:r>
          </a:p>
          <a:p>
            <a:r>
              <a:rPr lang="ru-RU" dirty="0"/>
              <a:t>Детекция лиц и классификация эмоций в реальном времени</a:t>
            </a:r>
          </a:p>
          <a:p>
            <a:r>
              <a:rPr lang="ru-RU" dirty="0" err="1"/>
              <a:t>Транскрибация</a:t>
            </a:r>
            <a:r>
              <a:rPr lang="ru-RU" dirty="0"/>
              <a:t> речи и анализ тональности</a:t>
            </a:r>
          </a:p>
          <a:p>
            <a:r>
              <a:rPr lang="ru-RU" dirty="0"/>
              <a:t>Формирование аналитического отчёта</a:t>
            </a:r>
          </a:p>
          <a:p>
            <a:pPr marL="0" indent="0">
              <a:buNone/>
            </a:pPr>
            <a:r>
              <a:rPr lang="ru-RU" dirty="0"/>
              <a:t>Дополнительные:</a:t>
            </a:r>
          </a:p>
          <a:p>
            <a:r>
              <a:rPr lang="ru-RU" dirty="0"/>
              <a:t>Аутентификация (JWT + </a:t>
            </a:r>
            <a:r>
              <a:rPr lang="ru-RU" dirty="0" err="1"/>
              <a:t>bcrypt</a:t>
            </a:r>
            <a:r>
              <a:rPr lang="ru-RU" dirty="0"/>
              <a:t>)</a:t>
            </a:r>
          </a:p>
          <a:p>
            <a:r>
              <a:rPr lang="ru-RU" dirty="0" err="1"/>
              <a:t>WebSocket</a:t>
            </a:r>
            <a:r>
              <a:rPr lang="ru-RU" dirty="0"/>
              <a:t> для </a:t>
            </a:r>
            <a:r>
              <a:rPr lang="ru-RU" dirty="0" err="1"/>
              <a:t>real-time</a:t>
            </a:r>
            <a:r>
              <a:rPr lang="ru-RU" dirty="0"/>
              <a:t> обмена</a:t>
            </a:r>
          </a:p>
          <a:p>
            <a:r>
              <a:rPr lang="ru-RU" dirty="0"/>
              <a:t>Хранение данных в </a:t>
            </a:r>
            <a:r>
              <a:rPr lang="ru-RU" dirty="0" err="1"/>
              <a:t>PostgreSQL</a:t>
            </a:r>
            <a:endParaRPr lang="ru-RU" dirty="0"/>
          </a:p>
          <a:p>
            <a:r>
              <a:rPr lang="ru-RU" dirty="0"/>
              <a:t>Экспорт отчётов (JSON/PDF)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E45F7B-423C-432A-AB30-10FB23DEFF5A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7/22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43957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BAAD23-B9AF-47EB-97C4-C8F7C4786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Средство разработки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95FAD0-980E-4610-98D5-906FF259B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DeepFace</a:t>
            </a:r>
            <a:r>
              <a:rPr lang="en-US" dirty="0"/>
              <a:t>:</a:t>
            </a:r>
          </a:p>
          <a:p>
            <a:r>
              <a:rPr lang="ru-RU" dirty="0"/>
              <a:t>Мета-библиотека с </a:t>
            </a:r>
            <a:r>
              <a:rPr lang="ru-RU" dirty="0" err="1"/>
              <a:t>предобученными</a:t>
            </a:r>
            <a:r>
              <a:rPr lang="ru-RU" dirty="0"/>
              <a:t> моделями</a:t>
            </a:r>
          </a:p>
          <a:p>
            <a:r>
              <a:rPr lang="ru-RU" dirty="0"/>
              <a:t>Поддержка </a:t>
            </a:r>
            <a:r>
              <a:rPr lang="en-US" dirty="0"/>
              <a:t>VGG-Face, Facenet512, </a:t>
            </a:r>
            <a:r>
              <a:rPr lang="en-US" dirty="0" err="1"/>
              <a:t>EfficientNet</a:t>
            </a:r>
            <a:endParaRPr lang="en-US" dirty="0"/>
          </a:p>
          <a:p>
            <a:r>
              <a:rPr lang="en-US" dirty="0" err="1"/>
              <a:t>MediaPipe</a:t>
            </a:r>
            <a:r>
              <a:rPr lang="en-US" dirty="0"/>
              <a:t> Face </a:t>
            </a:r>
            <a:r>
              <a:rPr lang="en-US" dirty="0" err="1"/>
              <a:t>Landmarker</a:t>
            </a:r>
            <a:r>
              <a:rPr lang="en-US" dirty="0"/>
              <a:t>:</a:t>
            </a:r>
          </a:p>
          <a:p>
            <a:r>
              <a:rPr lang="en-US" dirty="0"/>
              <a:t>468 3D </a:t>
            </a:r>
            <a:r>
              <a:rPr lang="ru-RU" dirty="0"/>
              <a:t>ключевых точек</a:t>
            </a:r>
          </a:p>
          <a:p>
            <a:r>
              <a:rPr lang="en-US" dirty="0" err="1"/>
              <a:t>Blendshape</a:t>
            </a:r>
            <a:r>
              <a:rPr lang="en-US" dirty="0"/>
              <a:t>-</a:t>
            </a:r>
            <a:r>
              <a:rPr lang="ru-RU" dirty="0"/>
              <a:t>коэффициенты, углы поворота головы</a:t>
            </a:r>
          </a:p>
          <a:p>
            <a:r>
              <a:rPr lang="en-US" dirty="0"/>
              <a:t>faster-whisper:</a:t>
            </a:r>
          </a:p>
          <a:p>
            <a:r>
              <a:rPr lang="ru-RU" dirty="0"/>
              <a:t>Оптимизированный </a:t>
            </a:r>
            <a:r>
              <a:rPr lang="ru-RU" dirty="0" err="1"/>
              <a:t>инференс</a:t>
            </a:r>
            <a:r>
              <a:rPr lang="ru-RU" dirty="0"/>
              <a:t> </a:t>
            </a:r>
            <a:r>
              <a:rPr lang="en-US" dirty="0"/>
              <a:t>Whisper</a:t>
            </a:r>
          </a:p>
          <a:p>
            <a:r>
              <a:rPr lang="ru-RU" dirty="0"/>
              <a:t>Поддержка </a:t>
            </a:r>
            <a:r>
              <a:rPr lang="en-US" dirty="0"/>
              <a:t>streaming, </a:t>
            </a:r>
            <a:r>
              <a:rPr lang="ru-RU" dirty="0"/>
              <a:t>квантование</a:t>
            </a:r>
          </a:p>
          <a:p>
            <a:r>
              <a:rPr lang="ru-RU" dirty="0"/>
              <a:t>Картинки: Те же, что на слайдах 5-6 (по необходимости)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D9155A-5477-428A-B594-4DE38D5D9805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9136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AB9A0AA-10E7-4050-98DE-0F44F58FF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Средство разработки пользовательского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7443656-0DAB-4754-98A4-FD307F4764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029" y="1825625"/>
            <a:ext cx="550045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React 18 + TypeScript + </a:t>
            </a:r>
            <a:r>
              <a:rPr lang="en-US" b="1" dirty="0" err="1"/>
              <a:t>Vite</a:t>
            </a:r>
            <a:endParaRPr lang="en-US" b="1" dirty="0"/>
          </a:p>
          <a:p>
            <a:pPr marL="0" indent="0">
              <a:buNone/>
            </a:pPr>
            <a:r>
              <a:rPr lang="ru-RU" b="1" dirty="0"/>
              <a:t>Компонентная архитектура</a:t>
            </a:r>
          </a:p>
          <a:p>
            <a:pPr marL="0" indent="0">
              <a:buNone/>
            </a:pPr>
            <a:r>
              <a:rPr lang="en-US" b="1" dirty="0"/>
              <a:t>WebSocket </a:t>
            </a:r>
            <a:r>
              <a:rPr lang="ru-RU" b="1" dirty="0"/>
              <a:t>для </a:t>
            </a:r>
            <a:r>
              <a:rPr lang="en-US" b="1" dirty="0"/>
              <a:t>real-time</a:t>
            </a:r>
          </a:p>
          <a:p>
            <a:pPr marL="0" indent="0">
              <a:buNone/>
            </a:pPr>
            <a:r>
              <a:rPr lang="ru-RU" b="1" dirty="0"/>
              <a:t>Адаптивный дизайн</a:t>
            </a:r>
          </a:p>
          <a:p>
            <a:pPr marL="0" indent="0">
              <a:buNone/>
            </a:pPr>
            <a:r>
              <a:rPr lang="ru-RU" b="1" dirty="0"/>
              <a:t>Браузерные </a:t>
            </a:r>
            <a:r>
              <a:rPr lang="en-US" b="1" dirty="0"/>
              <a:t>Media API </a:t>
            </a:r>
            <a:r>
              <a:rPr lang="ru-RU" b="1" dirty="0"/>
              <a:t>для захвата</a:t>
            </a:r>
          </a:p>
          <a:p>
            <a:pPr marL="0" indent="0">
              <a:buNone/>
            </a:pPr>
            <a:r>
              <a:rPr lang="ru-RU" b="1" dirty="0"/>
              <a:t>Картинка: Рисунок 7 из отчёта (интерфейс системы)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5D21C4-ABD9-41FB-B81E-16DC30531647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10/22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83828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4A4237-7384-4D65-B40A-9F7802E2C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Информационное обеспечение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3513E5-CE54-4AB7-8986-EBEFE1603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Входные данные:</a:t>
            </a:r>
          </a:p>
          <a:p>
            <a:r>
              <a:rPr lang="ru-RU" dirty="0"/>
              <a:t>Видеопоток с веб-камеры (анализ лица)</a:t>
            </a:r>
          </a:p>
          <a:p>
            <a:r>
              <a:rPr lang="ru-RU" dirty="0"/>
              <a:t>Аудиопоток с микрофона (распознавание речи)</a:t>
            </a:r>
          </a:p>
          <a:p>
            <a:pPr marL="0" indent="0">
              <a:buNone/>
            </a:pPr>
            <a:r>
              <a:rPr lang="ru-RU" dirty="0"/>
              <a:t>Обучающие данные:</a:t>
            </a:r>
          </a:p>
          <a:p>
            <a:r>
              <a:rPr lang="ru-RU" dirty="0"/>
              <a:t>Датасеты эмоций: FER-2013, </a:t>
            </a:r>
            <a:r>
              <a:rPr lang="ru-RU" dirty="0" err="1"/>
              <a:t>AffectNet</a:t>
            </a:r>
            <a:r>
              <a:rPr lang="ru-RU" dirty="0"/>
              <a:t>, RAF-DB</a:t>
            </a:r>
          </a:p>
          <a:p>
            <a:r>
              <a:rPr lang="ru-RU" dirty="0" err="1"/>
              <a:t>Аудиодатасеты</a:t>
            </a:r>
            <a:r>
              <a:rPr lang="ru-RU" dirty="0"/>
              <a:t> для ASR: </a:t>
            </a:r>
            <a:r>
              <a:rPr lang="ru-RU" dirty="0" err="1"/>
              <a:t>LibriSpeech</a:t>
            </a:r>
            <a:r>
              <a:rPr lang="ru-RU" dirty="0"/>
              <a:t>, Common Voice</a:t>
            </a:r>
          </a:p>
          <a:p>
            <a:pPr marL="0" indent="0">
              <a:buNone/>
            </a:pPr>
            <a:r>
              <a:rPr lang="ru-RU" dirty="0"/>
              <a:t>Картинка: Схема потоков данных (можно сделать в draw.io)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50098F-7052-48E4-A34F-402D8BB81F7F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87653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E47E73-D877-4497-A30F-9D6C2A470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ru-RU" dirty="0"/>
              <a:t>Пример обработки видеопотока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EC84FC0-D965-4180-9E61-13CDF03E7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04" y="1038686"/>
            <a:ext cx="11558016" cy="5819313"/>
          </a:xfrm>
        </p:spPr>
        <p:txBody>
          <a:bodyPr>
            <a:normAutofit/>
          </a:bodyPr>
          <a:lstStyle/>
          <a:p>
            <a:r>
              <a:rPr lang="ru-RU" dirty="0"/>
              <a:t>Детекция лица → выравнивание → извлечение признаков → классификация эмоции</a:t>
            </a:r>
          </a:p>
          <a:p>
            <a:r>
              <a:rPr lang="ru-RU" dirty="0"/>
              <a:t>Пример: кадр → </a:t>
            </a:r>
            <a:r>
              <a:rPr lang="en-US" dirty="0"/>
              <a:t>bounding box → landmarks → emotion: "happiness (0.87)"</a:t>
            </a:r>
          </a:p>
          <a:p>
            <a:r>
              <a:rPr lang="ru-RU" dirty="0"/>
              <a:t>Картинки:</a:t>
            </a:r>
          </a:p>
          <a:p>
            <a:r>
              <a:rPr lang="ru-RU" dirty="0"/>
              <a:t>Скриншот работы детекции (если есть)</a:t>
            </a:r>
          </a:p>
          <a:p>
            <a:r>
              <a:rPr lang="ru-RU" dirty="0"/>
              <a:t>ИЛИ схема </a:t>
            </a:r>
            <a:r>
              <a:rPr lang="en-US" dirty="0"/>
              <a:t>pipeline </a:t>
            </a:r>
            <a:r>
              <a:rPr lang="ru-RU" dirty="0"/>
              <a:t>обработки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56DD11-6E19-4DE8-AAA6-BECB7A79B558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r>
              <a:rPr lang="ru-RU" dirty="0"/>
              <a:t>2</a:t>
            </a:r>
            <a:r>
              <a:rPr lang="en-US" dirty="0"/>
              <a:t>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386472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D815F8-363A-4FDD-BF3E-513F73DA66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обработки аудиопотока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EBD09E6-48D2-4C1B-A424-71AEB12D0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Запись аудио → мел-спектрограмма → </a:t>
            </a:r>
            <a:r>
              <a:rPr lang="en-US" dirty="0"/>
              <a:t>encoder → decoder → </a:t>
            </a:r>
            <a:r>
              <a:rPr lang="ru-RU" dirty="0"/>
              <a:t>текст + эмоция</a:t>
            </a:r>
          </a:p>
          <a:p>
            <a:r>
              <a:rPr lang="ru-RU" dirty="0"/>
              <a:t>Пример: "фрагмент речи" → транскрипт → тон: "</a:t>
            </a:r>
            <a:r>
              <a:rPr lang="en-US" dirty="0"/>
              <a:t>neutral → stress"</a:t>
            </a:r>
          </a:p>
          <a:p>
            <a:r>
              <a:rPr lang="ru-RU" dirty="0"/>
              <a:t>Картинки:</a:t>
            </a:r>
          </a:p>
          <a:p>
            <a:r>
              <a:rPr lang="ru-RU" dirty="0"/>
              <a:t>Схема работы </a:t>
            </a:r>
            <a:r>
              <a:rPr lang="en-US" dirty="0"/>
              <a:t>Whisper (</a:t>
            </a:r>
            <a:r>
              <a:rPr lang="ru-RU" dirty="0"/>
              <a:t>рисунок 13)</a:t>
            </a:r>
          </a:p>
          <a:p>
            <a:r>
              <a:rPr lang="ru-RU" dirty="0"/>
              <a:t>ИЛИ пример спектрограммы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401ADA-F907-446F-A529-8B6A4967B58D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13/22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471748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1BFD6B-99D2-42D5-806B-5AF98D60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540" y="758193"/>
            <a:ext cx="4905652" cy="1496735"/>
          </a:xfrm>
        </p:spPr>
        <p:txBody>
          <a:bodyPr>
            <a:normAutofit/>
          </a:bodyPr>
          <a:lstStyle/>
          <a:p>
            <a:r>
              <a:rPr lang="ru-RU" dirty="0"/>
              <a:t>Алгоритм работы системы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1068E4-64AA-4881-9003-243658ECFBBE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14/22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830C30-DFFB-B5DE-EE03-CA29D77B4CCF}"/>
              </a:ext>
            </a:extLst>
          </p:cNvPr>
          <p:cNvSpPr txBox="1"/>
          <p:nvPr/>
        </p:nvSpPr>
        <p:spPr>
          <a:xfrm>
            <a:off x="3047238" y="2274838"/>
            <a:ext cx="609447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+mj-lt"/>
              <a:buAutoNum type="arabicPeriod"/>
            </a:pPr>
            <a:r>
              <a:rPr lang="ru-RU" dirty="0"/>
              <a:t>Авторизация пользователя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Создание/присоединение к сессии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Захват медиа (видео + аудио)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Параллельная обработка: лицо → эмоция, речь → текст + тон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Агрегация результатов (</a:t>
            </a:r>
            <a:r>
              <a:rPr lang="ru-RU" dirty="0" err="1"/>
              <a:t>late</a:t>
            </a:r>
            <a:r>
              <a:rPr lang="ru-RU" dirty="0"/>
              <a:t> </a:t>
            </a:r>
            <a:r>
              <a:rPr lang="ru-RU" dirty="0" err="1"/>
              <a:t>fusion</a:t>
            </a:r>
            <a:r>
              <a:rPr lang="ru-RU" dirty="0"/>
              <a:t>)</a:t>
            </a:r>
          </a:p>
          <a:p>
            <a:pPr algn="l">
              <a:buFont typeface="+mj-lt"/>
              <a:buAutoNum type="arabicPeriod"/>
            </a:pPr>
            <a:r>
              <a:rPr lang="ru-RU" dirty="0"/>
              <a:t>Формирование и отображение отчёта</a:t>
            </a:r>
          </a:p>
          <a:p>
            <a:pPr algn="l"/>
            <a:r>
              <a:rPr lang="ru-RU" dirty="0"/>
              <a:t>Картинка: Блок-схема алгоритма (сделать в draw.io)</a:t>
            </a:r>
          </a:p>
        </p:txBody>
      </p:sp>
    </p:spTree>
    <p:extLst>
      <p:ext uri="{BB962C8B-B14F-4D97-AF65-F5344CB8AC3E}">
        <p14:creationId xmlns:p14="http://schemas.microsoft.com/office/powerpoint/2010/main" val="4254625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BED1AB-11C4-48F5-BF70-1ACBA146FC6C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15/22</a:t>
            </a:r>
            <a:endParaRPr lang="ru-RU" dirty="0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C7FE94C1-7119-09AA-1780-C0215FA1FB94}"/>
              </a:ext>
            </a:extLst>
          </p:cNvPr>
          <p:cNvSpPr txBox="1">
            <a:spLocks/>
          </p:cNvSpPr>
          <p:nvPr/>
        </p:nvSpPr>
        <p:spPr>
          <a:xfrm>
            <a:off x="223058" y="290010"/>
            <a:ext cx="3018905" cy="22924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200" dirty="0"/>
              <a:t>Интерфейс системы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D2A9AF-D03C-4F58-31FE-7D5114D10DF8}"/>
              </a:ext>
            </a:extLst>
          </p:cNvPr>
          <p:cNvSpPr txBox="1"/>
          <p:nvPr/>
        </p:nvSpPr>
        <p:spPr>
          <a:xfrm>
            <a:off x="3047238" y="2828836"/>
            <a:ext cx="60944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dirty="0"/>
              <a:t>Картинка: Рисунок 7 из отчёта (полноэкранный скриншот интерфейса)</a:t>
            </a:r>
          </a:p>
        </p:txBody>
      </p:sp>
    </p:spTree>
    <p:extLst>
      <p:ext uri="{BB962C8B-B14F-4D97-AF65-F5344CB8AC3E}">
        <p14:creationId xmlns:p14="http://schemas.microsoft.com/office/powerpoint/2010/main" val="18505624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23B7ED-CC57-49E9-84A2-D9248AB69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75" y="105052"/>
            <a:ext cx="4204317" cy="2176509"/>
          </a:xfrm>
        </p:spPr>
        <p:txBody>
          <a:bodyPr>
            <a:normAutofit/>
          </a:bodyPr>
          <a:lstStyle/>
          <a:p>
            <a:r>
              <a:rPr lang="ru-RU" sz="3600" dirty="0"/>
              <a:t>Пример аналитического отчёта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95F111-5EAD-4700-80E6-067F170BC9FE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16/22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4F11B4-836D-A570-EF85-38D41BD9C562}"/>
              </a:ext>
            </a:extLst>
          </p:cNvPr>
          <p:cNvSpPr txBox="1"/>
          <p:nvPr/>
        </p:nvSpPr>
        <p:spPr>
          <a:xfrm>
            <a:off x="2978658" y="2690336"/>
            <a:ext cx="614019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dirty="0"/>
              <a:t>Сводка по встрече: распределение эмоций, активность, ключевые фразы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/>
              <a:t>Карточки участников с индивидуальной статистикой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dirty="0" err="1"/>
              <a:t>Таймлайны</a:t>
            </a:r>
            <a:r>
              <a:rPr lang="ru-RU" dirty="0"/>
              <a:t> изменения эмоций</a:t>
            </a:r>
          </a:p>
          <a:p>
            <a:pPr algn="l"/>
            <a:r>
              <a:rPr lang="ru-RU" dirty="0"/>
              <a:t>Картинка: Скриншот примера отчёта (если есть в проекте)</a:t>
            </a:r>
          </a:p>
        </p:txBody>
      </p:sp>
    </p:spTree>
    <p:extLst>
      <p:ext uri="{BB962C8B-B14F-4D97-AF65-F5344CB8AC3E}">
        <p14:creationId xmlns:p14="http://schemas.microsoft.com/office/powerpoint/2010/main" val="1412436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A3F0CB6-C78C-4805-AEBB-AFF9D10A5577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18/22</a:t>
            </a:r>
            <a:endParaRPr lang="ru-RU" dirty="0"/>
          </a:p>
        </p:txBody>
      </p:sp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6603485B-22FC-0A97-1718-C889CAEE5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работы модуля детекции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CE1EB7-33D9-2E65-0BC0-90F903F3C93E}"/>
              </a:ext>
            </a:extLst>
          </p:cNvPr>
          <p:cNvSpPr txBox="1"/>
          <p:nvPr/>
        </p:nvSpPr>
        <p:spPr>
          <a:xfrm>
            <a:off x="3047238" y="2967335"/>
            <a:ext cx="60944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До/после: исходный кадр → кадр с </a:t>
            </a:r>
            <a:r>
              <a:rPr lang="ru-RU" dirty="0" err="1"/>
              <a:t>bounding</a:t>
            </a:r>
            <a:r>
              <a:rPr lang="ru-RU" dirty="0"/>
              <a:t> </a:t>
            </a:r>
            <a:r>
              <a:rPr lang="ru-RU" dirty="0" err="1"/>
              <a:t>box</a:t>
            </a:r>
            <a:r>
              <a:rPr lang="ru-RU" dirty="0"/>
              <a:t> и эмоцией</a:t>
            </a:r>
          </a:p>
          <a:p>
            <a:r>
              <a:rPr lang="ru-RU" dirty="0"/>
              <a:t>Картинка: Сравнительный скриншот (можно сделать скрин из работающей системы)</a:t>
            </a:r>
          </a:p>
        </p:txBody>
      </p:sp>
    </p:spTree>
    <p:extLst>
      <p:ext uri="{BB962C8B-B14F-4D97-AF65-F5344CB8AC3E}">
        <p14:creationId xmlns:p14="http://schemas.microsoft.com/office/powerpoint/2010/main" val="28340052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3ACA76-DC55-4EE2-B96E-8C8DD92607FB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19/22</a:t>
            </a:r>
            <a:endParaRPr lang="ru-RU" dirty="0"/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1D64F9D4-50F5-E5DE-1F6D-A6CCD663D908}"/>
              </a:ext>
            </a:extLst>
          </p:cNvPr>
          <p:cNvSpPr txBox="1">
            <a:spLocks/>
          </p:cNvSpPr>
          <p:nvPr/>
        </p:nvSpPr>
        <p:spPr>
          <a:xfrm>
            <a:off x="163498" y="-1320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dirty="0"/>
              <a:t>Пример работы модуля распознавания речи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D4684-574A-EA26-898C-4CBE180E21B9}"/>
              </a:ext>
            </a:extLst>
          </p:cNvPr>
          <p:cNvSpPr txBox="1"/>
          <p:nvPr/>
        </p:nvSpPr>
        <p:spPr>
          <a:xfrm>
            <a:off x="3026664" y="2903327"/>
            <a:ext cx="610819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Аудиоволна</a:t>
            </a:r>
            <a:r>
              <a:rPr lang="ru-RU" dirty="0"/>
              <a:t> → текст → выделение эмоциональных маркеров</a:t>
            </a:r>
          </a:p>
          <a:p>
            <a:r>
              <a:rPr lang="ru-RU" dirty="0"/>
              <a:t>Картинка: Скриншот транскрипта с разметкой эмоций</a:t>
            </a:r>
          </a:p>
        </p:txBody>
      </p:sp>
    </p:spTree>
    <p:extLst>
      <p:ext uri="{BB962C8B-B14F-4D97-AF65-F5344CB8AC3E}">
        <p14:creationId xmlns:p14="http://schemas.microsoft.com/office/powerpoint/2010/main" val="12302992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4679AE-9695-41ED-964A-F63B6DC86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DA6D676-1DC8-4A9C-81A7-79527C288A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162"/>
            <a:ext cx="10515600" cy="5308846"/>
          </a:xfrm>
        </p:spPr>
        <p:txBody>
          <a:bodyPr>
            <a:normAutofit/>
          </a:bodyPr>
          <a:lstStyle/>
          <a:p>
            <a:r>
              <a:rPr lang="ru-RU" dirty="0"/>
              <a:t>Цель и задачи выполнены</a:t>
            </a:r>
          </a:p>
          <a:p>
            <a:r>
              <a:rPr lang="ru-RU" dirty="0"/>
              <a:t>Реализована мультимодальная система анализа эмоций</a:t>
            </a:r>
          </a:p>
          <a:p>
            <a:r>
              <a:rPr lang="ru-RU" dirty="0"/>
              <a:t>Протестированы ключевые модули (детекция, ASR, отчётность)</a:t>
            </a:r>
          </a:p>
          <a:p>
            <a:r>
              <a:rPr lang="ru-RU" dirty="0"/>
              <a:t>Система готова к внедрению в HR-процессы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E0758E-ED01-4E2A-9F8C-4C0573556692}"/>
              </a:ext>
            </a:extLst>
          </p:cNvPr>
          <p:cNvSpPr txBox="1"/>
          <p:nvPr/>
        </p:nvSpPr>
        <p:spPr>
          <a:xfrm>
            <a:off x="10990555" y="6391922"/>
            <a:ext cx="870012" cy="372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dirty="0"/>
              <a:t>2/22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8682195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963</Words>
  <Application>Microsoft Office PowerPoint</Application>
  <PresentationFormat>Широкоэкранный</PresentationFormat>
  <Paragraphs>140</Paragraphs>
  <Slides>19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Тема Office</vt:lpstr>
      <vt:lpstr>ПРОИЗВОДСТВЕННАЯ ПРАКТИКА, ПРЕДДИПЛОМНАЯ ПРАКТИКА </vt:lpstr>
      <vt:lpstr>Цель и задачи практики</vt:lpstr>
      <vt:lpstr>Актуальность</vt:lpstr>
      <vt:lpstr>Актуальность</vt:lpstr>
      <vt:lpstr>Средства и технологии разработки</vt:lpstr>
      <vt:lpstr>Модуль анализа лица и эмоций</vt:lpstr>
      <vt:lpstr>Модуль распознавания речи</vt:lpstr>
      <vt:lpstr>Функции системы</vt:lpstr>
      <vt:lpstr>Средство разработки интерфейса</vt:lpstr>
      <vt:lpstr>Средство разработки пользовательского интерфейса</vt:lpstr>
      <vt:lpstr>Информационное обеспечение</vt:lpstr>
      <vt:lpstr>Пример обработки видеопотока</vt:lpstr>
      <vt:lpstr>Пример обработки аудиопотока</vt:lpstr>
      <vt:lpstr>Алгоритм работы системы</vt:lpstr>
      <vt:lpstr>Презентация PowerPoint</vt:lpstr>
      <vt:lpstr>Пример аналитического отчёта</vt:lpstr>
      <vt:lpstr>Пример работы модуля детекции</vt:lpstr>
      <vt:lpstr>Презентация PowerPoint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ПРОИЗВОДСТВЕННАЯ ПРАКТИКА, ПРЕДДИПЛОМНАЯ ПРАКТИКА </dc:title>
  <dc:creator>Роман Чирко</dc:creator>
  <cp:lastModifiedBy>Виталий Демьянцев</cp:lastModifiedBy>
  <cp:revision>80</cp:revision>
  <dcterms:created xsi:type="dcterms:W3CDTF">2024-05-28T15:56:43Z</dcterms:created>
  <dcterms:modified xsi:type="dcterms:W3CDTF">2026-05-18T21:51:17Z</dcterms:modified>
</cp:coreProperties>
</file>